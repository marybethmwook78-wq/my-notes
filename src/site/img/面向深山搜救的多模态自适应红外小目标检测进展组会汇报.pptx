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71" r:id="rId6"/>
    <p:sldId id="272" r:id="rId7"/>
    <p:sldId id="273" r:id="rId8"/>
    <p:sldId id="274" r:id="rId9"/>
    <p:sldId id="275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15" userDrawn="1">
          <p15:clr>
            <a:srgbClr val="747775"/>
          </p15:clr>
        </p15:guide>
        <p15:guide id="2" pos="2879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580" y="352"/>
      </p:cViewPr>
      <p:guideLst>
        <p:guide orient="horz" pos="1615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是郭帅。今天我将向各位汇报我的最新研究进展，主题是“面向深山搜救的多模态自适应红外小目标检测”。这项研究旨在解决真实世界中，无人机在复杂地形下进行生命搜救时面临的核心挑战。接下来，我将详细介绍我们的算法设计、实验结果以及未来的优化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0" Type="http://schemas.openxmlformats.org/officeDocument/2006/relationships/notesSlide" Target="../notesSlides/notesSlide2.xml"/><Relationship Id="rId2" Type="http://schemas.openxmlformats.org/officeDocument/2006/relationships/image" Target="../media/image3.png"/><Relationship Id="rId19" Type="http://schemas.openxmlformats.org/officeDocument/2006/relationships/slideLayout" Target="../slideLayouts/slideLayout13.xml"/><Relationship Id="rId18" Type="http://schemas.openxmlformats.org/officeDocument/2006/relationships/image" Target="../media/image19.png"/><Relationship Id="rId17" Type="http://schemas.openxmlformats.org/officeDocument/2006/relationships/image" Target="../media/image18.jpeg"/><Relationship Id="rId16" Type="http://schemas.openxmlformats.org/officeDocument/2006/relationships/image" Target="../media/image17.png"/><Relationship Id="rId15" Type="http://schemas.openxmlformats.org/officeDocument/2006/relationships/image" Target="../media/image16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13.xml"/><Relationship Id="rId12" Type="http://schemas.openxmlformats.org/officeDocument/2006/relationships/image" Target="../media/image29.png"/><Relationship Id="rId11" Type="http://schemas.openxmlformats.org/officeDocument/2006/relationships/image" Target="../media/image28.png"/><Relationship Id="rId10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3.xml"/><Relationship Id="rId24" Type="http://schemas.openxmlformats.org/officeDocument/2006/relationships/image" Target="../media/image50.png"/><Relationship Id="rId23" Type="http://schemas.openxmlformats.org/officeDocument/2006/relationships/image" Target="../media/image49.png"/><Relationship Id="rId22" Type="http://schemas.openxmlformats.org/officeDocument/2006/relationships/image" Target="../media/image48.png"/><Relationship Id="rId21" Type="http://schemas.openxmlformats.org/officeDocument/2006/relationships/image" Target="../media/image47.png"/><Relationship Id="rId20" Type="http://schemas.openxmlformats.org/officeDocument/2006/relationships/image" Target="../media/image46.png"/><Relationship Id="rId2" Type="http://schemas.openxmlformats.org/officeDocument/2006/relationships/image" Target="../media/image20.png"/><Relationship Id="rId19" Type="http://schemas.openxmlformats.org/officeDocument/2006/relationships/image" Target="../media/image45.png"/><Relationship Id="rId18" Type="http://schemas.openxmlformats.org/officeDocument/2006/relationships/image" Target="../media/image44.png"/><Relationship Id="rId17" Type="http://schemas.openxmlformats.org/officeDocument/2006/relationships/image" Target="../media/image43.png"/><Relationship Id="rId16" Type="http://schemas.openxmlformats.org/officeDocument/2006/relationships/image" Target="../media/image42.png"/><Relationship Id="rId15" Type="http://schemas.openxmlformats.org/officeDocument/2006/relationships/image" Target="../media/image41.png"/><Relationship Id="rId14" Type="http://schemas.openxmlformats.org/officeDocument/2006/relationships/image" Target="../media/image40.png"/><Relationship Id="rId13" Type="http://schemas.openxmlformats.org/officeDocument/2006/relationships/image" Target="../media/image39.png"/><Relationship Id="rId12" Type="http://schemas.openxmlformats.org/officeDocument/2006/relationships/image" Target="../media/image38.png"/><Relationship Id="rId11" Type="http://schemas.openxmlformats.org/officeDocument/2006/relationships/image" Target="../media/image37.png"/><Relationship Id="rId10" Type="http://schemas.openxmlformats.org/officeDocument/2006/relationships/image" Target="../media/image36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png"/><Relationship Id="rId8" Type="http://schemas.openxmlformats.org/officeDocument/2006/relationships/image" Target="../media/image56.png"/><Relationship Id="rId7" Type="http://schemas.openxmlformats.org/officeDocument/2006/relationships/image" Target="../media/image55.png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2" Type="http://schemas.openxmlformats.org/officeDocument/2006/relationships/notesSlide" Target="../notesSlides/notesSlide5.xml"/><Relationship Id="rId21" Type="http://schemas.openxmlformats.org/officeDocument/2006/relationships/slideLayout" Target="../slideLayouts/slideLayout13.xml"/><Relationship Id="rId20" Type="http://schemas.openxmlformats.org/officeDocument/2006/relationships/image" Target="../media/image67.png"/><Relationship Id="rId2" Type="http://schemas.openxmlformats.org/officeDocument/2006/relationships/image" Target="../media/image3.png"/><Relationship Id="rId19" Type="http://schemas.openxmlformats.org/officeDocument/2006/relationships/image" Target="../media/image66.png"/><Relationship Id="rId18" Type="http://schemas.openxmlformats.org/officeDocument/2006/relationships/image" Target="../media/image65.png"/><Relationship Id="rId17" Type="http://schemas.openxmlformats.org/officeDocument/2006/relationships/image" Target="../media/image19.png"/><Relationship Id="rId16" Type="http://schemas.openxmlformats.org/officeDocument/2006/relationships/image" Target="../media/image64.png"/><Relationship Id="rId15" Type="http://schemas.openxmlformats.org/officeDocument/2006/relationships/image" Target="../media/image63.png"/><Relationship Id="rId14" Type="http://schemas.openxmlformats.org/officeDocument/2006/relationships/image" Target="../media/image62.png"/><Relationship Id="rId13" Type="http://schemas.openxmlformats.org/officeDocument/2006/relationships/image" Target="../media/image61.png"/><Relationship Id="rId12" Type="http://schemas.openxmlformats.org/officeDocument/2006/relationships/image" Target="../media/image60.png"/><Relationship Id="rId11" Type="http://schemas.openxmlformats.org/officeDocument/2006/relationships/image" Target="../media/image59.png"/><Relationship Id="rId10" Type="http://schemas.openxmlformats.org/officeDocument/2006/relationships/image" Target="../media/image58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png"/><Relationship Id="rId8" Type="http://schemas.openxmlformats.org/officeDocument/2006/relationships/image" Target="../media/image73.png"/><Relationship Id="rId7" Type="http://schemas.openxmlformats.org/officeDocument/2006/relationships/image" Target="../media/image72.png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51.png"/><Relationship Id="rId30" Type="http://schemas.openxmlformats.org/officeDocument/2006/relationships/notesSlide" Target="../notesSlides/notesSlide6.xml"/><Relationship Id="rId3" Type="http://schemas.openxmlformats.org/officeDocument/2006/relationships/image" Target="../media/image69.png"/><Relationship Id="rId29" Type="http://schemas.openxmlformats.org/officeDocument/2006/relationships/slideLayout" Target="../slideLayouts/slideLayout13.xml"/><Relationship Id="rId28" Type="http://schemas.openxmlformats.org/officeDocument/2006/relationships/image" Target="../media/image91.png"/><Relationship Id="rId27" Type="http://schemas.openxmlformats.org/officeDocument/2006/relationships/image" Target="../media/image90.png"/><Relationship Id="rId26" Type="http://schemas.openxmlformats.org/officeDocument/2006/relationships/image" Target="../media/image89.png"/><Relationship Id="rId25" Type="http://schemas.openxmlformats.org/officeDocument/2006/relationships/image" Target="../media/image88.png"/><Relationship Id="rId24" Type="http://schemas.openxmlformats.org/officeDocument/2006/relationships/image" Target="../media/image87.png"/><Relationship Id="rId23" Type="http://schemas.openxmlformats.org/officeDocument/2006/relationships/image" Target="../media/image86.png"/><Relationship Id="rId22" Type="http://schemas.openxmlformats.org/officeDocument/2006/relationships/image" Target="../media/image85.png"/><Relationship Id="rId21" Type="http://schemas.openxmlformats.org/officeDocument/2006/relationships/image" Target="../media/image84.png"/><Relationship Id="rId20" Type="http://schemas.openxmlformats.org/officeDocument/2006/relationships/image" Target="../media/image83.png"/><Relationship Id="rId2" Type="http://schemas.openxmlformats.org/officeDocument/2006/relationships/image" Target="../media/image68.png"/><Relationship Id="rId19" Type="http://schemas.openxmlformats.org/officeDocument/2006/relationships/image" Target="../media/image82.png"/><Relationship Id="rId18" Type="http://schemas.openxmlformats.org/officeDocument/2006/relationships/image" Target="../media/image81.png"/><Relationship Id="rId17" Type="http://schemas.openxmlformats.org/officeDocument/2006/relationships/image" Target="../media/image80.png"/><Relationship Id="rId16" Type="http://schemas.openxmlformats.org/officeDocument/2006/relationships/image" Target="../media/image79.png"/><Relationship Id="rId15" Type="http://schemas.openxmlformats.org/officeDocument/2006/relationships/image" Target="../media/image78.png"/><Relationship Id="rId14" Type="http://schemas.openxmlformats.org/officeDocument/2006/relationships/image" Target="../media/image77.png"/><Relationship Id="rId13" Type="http://schemas.openxmlformats.org/officeDocument/2006/relationships/image" Target="../media/image76.png"/><Relationship Id="rId12" Type="http://schemas.openxmlformats.org/officeDocument/2006/relationships/image" Target="../media/image6.png"/><Relationship Id="rId11" Type="http://schemas.openxmlformats.org/officeDocument/2006/relationships/image" Target="../media/image19.png"/><Relationship Id="rId10" Type="http://schemas.openxmlformats.org/officeDocument/2006/relationships/image" Target="../media/image75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Text 0"/>
          <p:cNvSpPr/>
          <p:nvPr/>
        </p:nvSpPr>
        <p:spPr>
          <a:xfrm>
            <a:off x="609600" y="832803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5625"/>
              </a:lnSpc>
              <a:buNone/>
            </a:pPr>
            <a:r>
              <a:rPr lang="en-US" sz="4500" b="1" dirty="0">
                <a:solidFill>
                  <a:srgbClr val="22D3EE"/>
                </a:solidFill>
              </a:rPr>
              <a:t>面向深山搜救的</a:t>
            </a:r>
            <a:endParaRPr lang="en-US" sz="4500" dirty="0"/>
          </a:p>
        </p:txBody>
      </p:sp>
      <p:sp>
        <p:nvSpPr>
          <p:cNvPr id="14" name="Text 2"/>
          <p:cNvSpPr/>
          <p:nvPr/>
        </p:nvSpPr>
        <p:spPr>
          <a:xfrm>
            <a:off x="609600" y="1717993"/>
            <a:ext cx="115824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5625"/>
              </a:lnSpc>
              <a:buNone/>
            </a:pPr>
            <a:r>
              <a:rPr lang="en-US" sz="4500" b="1" dirty="0">
                <a:solidFill>
                  <a:srgbClr val="FFFFFF"/>
                </a:solidFill>
                <a:sym typeface="Noto Sans SC" panose="020B0200000000000000" charset="-122"/>
              </a:rPr>
              <a:t>多模态先验引导的目标检测</a:t>
            </a:r>
            <a:endParaRPr lang="en-US" sz="4500" dirty="0"/>
          </a:p>
        </p:txBody>
      </p:sp>
      <p:sp>
        <p:nvSpPr>
          <p:cNvPr id="15" name="Text 4"/>
          <p:cNvSpPr/>
          <p:nvPr/>
        </p:nvSpPr>
        <p:spPr>
          <a:xfrm>
            <a:off x="609600" y="2576989"/>
            <a:ext cx="4572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5625"/>
              </a:lnSpc>
              <a:buNone/>
            </a:pPr>
            <a:r>
              <a:rPr lang="en-US" sz="4500" b="1" dirty="0">
                <a:solidFill>
                  <a:srgbClr val="6EE7B7"/>
                </a:solidFill>
              </a:rPr>
              <a:t>进展汇报</a:t>
            </a:r>
            <a:endParaRPr lang="en-US" sz="4500" dirty="0"/>
          </a:p>
        </p:txBody>
      </p:sp>
      <p:sp>
        <p:nvSpPr>
          <p:cNvPr id="16" name="Text 5"/>
          <p:cNvSpPr/>
          <p:nvPr/>
        </p:nvSpPr>
        <p:spPr>
          <a:xfrm>
            <a:off x="679450" y="4177109"/>
            <a:ext cx="2372995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2400" b="1" kern="0" dirty="0">
                <a:solidFill>
                  <a:srgbClr val="FFFFFF"/>
                </a:solidFill>
                <a:ea typeface="宋体" panose="02010600030101010101" pitchFamily="2" charset="-122"/>
              </a:rPr>
              <a:t>汇报人：郭帅</a:t>
            </a:r>
            <a:endParaRPr lang="zh-CN" altLang="en-US" sz="2400" b="1" kern="0" dirty="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20" name="Text 9"/>
          <p:cNvSpPr/>
          <p:nvPr/>
        </p:nvSpPr>
        <p:spPr>
          <a:xfrm>
            <a:off x="679450" y="4662249"/>
            <a:ext cx="10972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algn="l">
              <a:lnSpc>
                <a:spcPts val="2100"/>
              </a:lnSpc>
              <a:buSzTx/>
              <a:buNone/>
            </a:pPr>
            <a:r>
              <a:rPr lang="zh-CN" altLang="en-US" sz="2400" b="1" kern="0" dirty="0">
                <a:solidFill>
                  <a:srgbClr val="FFFFFF"/>
                </a:solidFill>
                <a:ea typeface="宋体" panose="02010600030101010101" pitchFamily="2" charset="-122"/>
              </a:rPr>
              <a:t>汇报日期：2026年4月26日</a:t>
            </a:r>
            <a:endParaRPr lang="en-US" sz="2400" b="1" kern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5377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38300"/>
            <a:ext cx="5524500" cy="22669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8669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981200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506712"/>
            <a:ext cx="114300" cy="1333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773412"/>
            <a:ext cx="114300" cy="133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040112"/>
            <a:ext cx="11430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306812"/>
            <a:ext cx="11430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1638300"/>
            <a:ext cx="5524500" cy="22669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186690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8913" y="1981200"/>
            <a:ext cx="257175" cy="228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2506712"/>
            <a:ext cx="11430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2773412"/>
            <a:ext cx="11430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3040112"/>
            <a:ext cx="114300" cy="1333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3306812"/>
            <a:ext cx="114300" cy="1333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33850"/>
            <a:ext cx="5524500" cy="22669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362450"/>
            <a:ext cx="457200" cy="457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5813" y="4476750"/>
            <a:ext cx="257175" cy="228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002262"/>
            <a:ext cx="114300" cy="1333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268962"/>
            <a:ext cx="114300" cy="1333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5535662"/>
            <a:ext cx="114300" cy="1333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5802362"/>
            <a:ext cx="152400" cy="1333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4133850"/>
            <a:ext cx="5524500" cy="22669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4362450"/>
            <a:ext cx="457200" cy="4572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38913" y="4476750"/>
            <a:ext cx="257175" cy="2286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5002262"/>
            <a:ext cx="114300" cy="1333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5268962"/>
            <a:ext cx="114300" cy="13335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5535662"/>
            <a:ext cx="114300" cy="13335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5802362"/>
            <a:ext cx="114300" cy="13335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06000" y="4876800"/>
            <a:ext cx="1828800" cy="1524000"/>
          </a:xfrm>
          <a:prstGeom prst="rect">
            <a:avLst/>
          </a:prstGeom>
        </p:spPr>
      </p:pic>
      <p:pic>
        <p:nvPicPr>
          <p:cNvPr id="34" name="Image 32" descr="https://picture-search.tiangong.cn/aippt/image/sheet/4618f027546f51502c77ee90d84de6db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06000" y="4876800"/>
            <a:ext cx="1828800" cy="15240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36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</a:rPr>
              <a:t>核心算法开发与实验闭环</a:t>
            </a:r>
            <a:endParaRPr lang="en-US" sz="2700" dirty="0"/>
          </a:p>
        </p:txBody>
      </p:sp>
      <p:sp>
        <p:nvSpPr>
          <p:cNvPr id="38" name="Text 2"/>
          <p:cNvSpPr/>
          <p:nvPr/>
        </p:nvSpPr>
        <p:spPr>
          <a:xfrm>
            <a:off x="1295400" y="1962150"/>
            <a:ext cx="3048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地形感知逻辑构建</a:t>
            </a:r>
            <a:endParaRPr lang="en-US" sz="1500" dirty="0"/>
          </a:p>
        </p:txBody>
      </p:sp>
      <p:sp>
        <p:nvSpPr>
          <p:cNvPr id="39" name="Text 3"/>
          <p:cNvSpPr/>
          <p:nvPr/>
        </p:nvSpPr>
        <p:spPr>
          <a:xfrm>
            <a:off x="876300" y="2476500"/>
            <a:ext cx="61341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D1D5DB"/>
                </a:solidFill>
              </a:rPr>
              <a:t>引入 CLIP (ViT-Large-14) 视觉-语言大模型</a:t>
            </a:r>
            <a:endParaRPr lang="en-US" dirty="0">
              <a:solidFill>
                <a:srgbClr val="D1D5DB"/>
              </a:solidFill>
            </a:endParaRPr>
          </a:p>
        </p:txBody>
      </p:sp>
      <p:sp>
        <p:nvSpPr>
          <p:cNvPr id="40" name="Text 4"/>
          <p:cNvSpPr/>
          <p:nvPr/>
        </p:nvSpPr>
        <p:spPr>
          <a:xfrm>
            <a:off x="876300" y="2743200"/>
            <a:ext cx="5067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D1D5DB"/>
                </a:solidFill>
              </a:rPr>
              <a:t>多维度提示词集成技术</a:t>
            </a:r>
            <a:endParaRPr lang="en-US" dirty="0">
              <a:solidFill>
                <a:srgbClr val="D1D5DB"/>
              </a:solidFill>
            </a:endParaRPr>
          </a:p>
        </p:txBody>
      </p:sp>
      <p:sp>
        <p:nvSpPr>
          <p:cNvPr id="41" name="Text 5"/>
          <p:cNvSpPr/>
          <p:nvPr/>
        </p:nvSpPr>
        <p:spPr>
          <a:xfrm>
            <a:off x="876300" y="3009900"/>
            <a:ext cx="5067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D1D5DB"/>
                </a:solidFill>
              </a:rPr>
              <a:t>零样本地形打标（密林、悬崖、空旷地带）</a:t>
            </a:r>
            <a:endParaRPr lang="en-US" dirty="0">
              <a:solidFill>
                <a:srgbClr val="D1D5DB"/>
              </a:solidFill>
            </a:endParaRPr>
          </a:p>
        </p:txBody>
      </p:sp>
      <p:sp>
        <p:nvSpPr>
          <p:cNvPr id="42" name="Text 6"/>
          <p:cNvSpPr/>
          <p:nvPr/>
        </p:nvSpPr>
        <p:spPr>
          <a:xfrm>
            <a:off x="876300" y="3276600"/>
            <a:ext cx="5067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D1D5DB"/>
                </a:solidFill>
              </a:rPr>
              <a:t>为自适应调整提供先验标签</a:t>
            </a:r>
            <a:endParaRPr lang="en-US" dirty="0">
              <a:solidFill>
                <a:srgbClr val="D1D5DB"/>
              </a:solidFill>
            </a:endParaRPr>
          </a:p>
        </p:txBody>
      </p:sp>
      <p:sp>
        <p:nvSpPr>
          <p:cNvPr id="43" name="Text 7"/>
          <p:cNvSpPr/>
          <p:nvPr/>
        </p:nvSpPr>
        <p:spPr>
          <a:xfrm>
            <a:off x="7048500" y="1962150"/>
            <a:ext cx="2667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多模态架构升级</a:t>
            </a:r>
            <a:endParaRPr lang="en-US" sz="1500" dirty="0"/>
          </a:p>
        </p:txBody>
      </p:sp>
      <p:sp>
        <p:nvSpPr>
          <p:cNvPr id="44" name="Text 8"/>
          <p:cNvSpPr/>
          <p:nvPr/>
        </p:nvSpPr>
        <p:spPr>
          <a:xfrm>
            <a:off x="6629400" y="2476500"/>
            <a:ext cx="5067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D1D5DB"/>
                </a:solidFill>
              </a:rPr>
              <a:t>魔改 YOLOv8 主干网络</a:t>
            </a:r>
            <a:endParaRPr lang="en-US" dirty="0">
              <a:solidFill>
                <a:srgbClr val="D1D5DB"/>
              </a:solidFill>
            </a:endParaRPr>
          </a:p>
        </p:txBody>
      </p:sp>
      <p:sp>
        <p:nvSpPr>
          <p:cNvPr id="45" name="Text 9"/>
          <p:cNvSpPr/>
          <p:nvPr/>
        </p:nvSpPr>
        <p:spPr>
          <a:xfrm>
            <a:off x="6629400" y="2743200"/>
            <a:ext cx="5067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D1D5DB"/>
                </a:solidFill>
              </a:rPr>
              <a:t>宏观地理概率图作为第四通道注入</a:t>
            </a:r>
            <a:endParaRPr lang="en-US" dirty="0">
              <a:solidFill>
                <a:srgbClr val="D1D5DB"/>
              </a:solidFill>
            </a:endParaRPr>
          </a:p>
        </p:txBody>
      </p:sp>
      <p:sp>
        <p:nvSpPr>
          <p:cNvPr id="46" name="Text 10"/>
          <p:cNvSpPr/>
          <p:nvPr/>
        </p:nvSpPr>
        <p:spPr>
          <a:xfrm>
            <a:off x="6629400" y="3009900"/>
            <a:ext cx="5067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D1D5DB"/>
                </a:solidFill>
              </a:rPr>
              <a:t>实现视觉特征与空间先验的底层融合</a:t>
            </a:r>
            <a:endParaRPr lang="en-US" dirty="0">
              <a:solidFill>
                <a:srgbClr val="D1D5DB"/>
              </a:solidFill>
            </a:endParaRPr>
          </a:p>
        </p:txBody>
      </p:sp>
      <p:sp>
        <p:nvSpPr>
          <p:cNvPr id="47" name="Text 11"/>
          <p:cNvSpPr/>
          <p:nvPr/>
        </p:nvSpPr>
        <p:spPr>
          <a:xfrm>
            <a:off x="6629400" y="3276600"/>
            <a:ext cx="5067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D1D5DB"/>
                </a:solidFill>
              </a:rPr>
              <a:t>输入张量格式: [Batch, 4, H, W]</a:t>
            </a:r>
            <a:endParaRPr lang="en-US" dirty="0">
              <a:solidFill>
                <a:srgbClr val="D1D5DB"/>
              </a:solidFill>
            </a:endParaRPr>
          </a:p>
        </p:txBody>
      </p:sp>
      <p:sp>
        <p:nvSpPr>
          <p:cNvPr id="48" name="Text 12"/>
          <p:cNvSpPr/>
          <p:nvPr/>
        </p:nvSpPr>
        <p:spPr>
          <a:xfrm>
            <a:off x="1295400" y="4457700"/>
            <a:ext cx="3124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TA-DMA 模块实现</a:t>
            </a:r>
            <a:endParaRPr lang="en-US" sz="1500" dirty="0"/>
          </a:p>
        </p:txBody>
      </p:sp>
      <p:sp>
        <p:nvSpPr>
          <p:cNvPr id="49" name="Text 13"/>
          <p:cNvSpPr/>
          <p:nvPr/>
        </p:nvSpPr>
        <p:spPr>
          <a:xfrm>
            <a:off x="876300" y="4972050"/>
            <a:ext cx="5067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D1D5DB"/>
                </a:solidFill>
              </a:rPr>
              <a:t>地形感知动态模态注意力机制</a:t>
            </a:r>
            <a:endParaRPr lang="en-US" dirty="0">
              <a:solidFill>
                <a:srgbClr val="D1D5DB"/>
              </a:solidFill>
            </a:endParaRPr>
          </a:p>
        </p:txBody>
      </p:sp>
      <p:sp>
        <p:nvSpPr>
          <p:cNvPr id="50" name="Text 14"/>
          <p:cNvSpPr/>
          <p:nvPr/>
        </p:nvSpPr>
        <p:spPr>
          <a:xfrm>
            <a:off x="876300" y="5238750"/>
            <a:ext cx="5067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D1D5DB"/>
                </a:solidFill>
              </a:rPr>
              <a:t>自适应分配 RGB 与 Geo-Mask 权重</a:t>
            </a:r>
            <a:endParaRPr lang="en-US" dirty="0">
              <a:solidFill>
                <a:srgbClr val="D1D5DB"/>
              </a:solidFill>
            </a:endParaRPr>
          </a:p>
        </p:txBody>
      </p:sp>
      <p:sp>
        <p:nvSpPr>
          <p:cNvPr id="51" name="Text 15"/>
          <p:cNvSpPr/>
          <p:nvPr/>
        </p:nvSpPr>
        <p:spPr>
          <a:xfrm>
            <a:off x="876300" y="5505450"/>
            <a:ext cx="5067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D1D5DB"/>
                </a:solidFill>
              </a:rPr>
              <a:t>密林区：降低RGB权重，提高先验权重</a:t>
            </a:r>
            <a:endParaRPr lang="en-US" dirty="0">
              <a:solidFill>
                <a:srgbClr val="D1D5DB"/>
              </a:solidFill>
            </a:endParaRPr>
          </a:p>
        </p:txBody>
      </p:sp>
      <p:sp>
        <p:nvSpPr>
          <p:cNvPr id="52" name="Text 16"/>
          <p:cNvSpPr/>
          <p:nvPr/>
        </p:nvSpPr>
        <p:spPr>
          <a:xfrm>
            <a:off x="914400" y="5772150"/>
            <a:ext cx="5067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D1D5DB"/>
                </a:solidFill>
              </a:rPr>
              <a:t>开阔地：提高RGB权重，降低先验权重</a:t>
            </a:r>
            <a:endParaRPr lang="en-US" dirty="0">
              <a:solidFill>
                <a:srgbClr val="D1D5DB"/>
              </a:solidFill>
            </a:endParaRPr>
          </a:p>
        </p:txBody>
      </p:sp>
      <p:sp>
        <p:nvSpPr>
          <p:cNvPr id="53" name="Text 17"/>
          <p:cNvSpPr/>
          <p:nvPr/>
        </p:nvSpPr>
        <p:spPr>
          <a:xfrm>
            <a:off x="7048500" y="4457700"/>
            <a:ext cx="3429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全流程搜救仿真沙盘</a:t>
            </a:r>
            <a:endParaRPr lang="en-US" sz="1500" dirty="0"/>
          </a:p>
        </p:txBody>
      </p:sp>
      <p:sp>
        <p:nvSpPr>
          <p:cNvPr id="54" name="Text 18"/>
          <p:cNvSpPr/>
          <p:nvPr/>
        </p:nvSpPr>
        <p:spPr>
          <a:xfrm>
            <a:off x="6629400" y="4972050"/>
            <a:ext cx="5067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D1D5DB"/>
                </a:solidFill>
              </a:rPr>
              <a:t>基于 SAREnv 构建仿真环境</a:t>
            </a:r>
            <a:endParaRPr lang="en-US" dirty="0">
              <a:solidFill>
                <a:srgbClr val="D1D5DB"/>
              </a:solidFill>
            </a:endParaRPr>
          </a:p>
        </p:txBody>
      </p:sp>
      <p:sp>
        <p:nvSpPr>
          <p:cNvPr id="55" name="Text 19"/>
          <p:cNvSpPr/>
          <p:nvPr/>
        </p:nvSpPr>
        <p:spPr>
          <a:xfrm>
            <a:off x="6629400" y="5238750"/>
            <a:ext cx="5067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D1D5DB"/>
                </a:solidFill>
              </a:rPr>
              <a:t>包含 84% 真实背景噪声（空旷荒野）</a:t>
            </a:r>
            <a:endParaRPr lang="en-US" dirty="0">
              <a:solidFill>
                <a:srgbClr val="D1D5DB"/>
              </a:solidFill>
            </a:endParaRPr>
          </a:p>
        </p:txBody>
      </p:sp>
      <p:sp>
        <p:nvSpPr>
          <p:cNvPr id="56" name="Text 20"/>
          <p:cNvSpPr/>
          <p:nvPr/>
        </p:nvSpPr>
        <p:spPr>
          <a:xfrm>
            <a:off x="6629400" y="5505450"/>
            <a:ext cx="5067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D1D5DB"/>
                </a:solidFill>
              </a:rPr>
              <a:t>从单图视觉到宏观战术的闭环验证</a:t>
            </a:r>
            <a:endParaRPr lang="en-US" dirty="0">
              <a:solidFill>
                <a:srgbClr val="D1D5DB"/>
              </a:solidFill>
            </a:endParaRPr>
          </a:p>
        </p:txBody>
      </p:sp>
      <p:sp>
        <p:nvSpPr>
          <p:cNvPr id="57" name="Text 21"/>
          <p:cNvSpPr/>
          <p:nvPr/>
        </p:nvSpPr>
        <p:spPr>
          <a:xfrm>
            <a:off x="6629400" y="5772150"/>
            <a:ext cx="5067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D1D5DB"/>
                </a:solidFill>
              </a:rPr>
              <a:t>时间折扣发现概率（TDPD）评估</a:t>
            </a:r>
            <a:endParaRPr lang="en-US" dirty="0">
              <a:solidFill>
                <a:srgbClr val="D1D5D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7884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371600"/>
            <a:ext cx="11508740" cy="4648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621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1657350"/>
            <a:ext cx="19050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71170" y="2171700"/>
            <a:ext cx="8767082" cy="360997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6172200"/>
            <a:ext cx="114300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6315075"/>
            <a:ext cx="133350" cy="1333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 err="1">
                <a:solidFill>
                  <a:srgbClr val="FFFFFF"/>
                </a:solidFill>
              </a:rPr>
              <a:t>定量指标对比</a:t>
            </a:r>
            <a:endParaRPr lang="en-US" sz="2700" dirty="0"/>
          </a:p>
        </p:txBody>
      </p:sp>
      <p:sp>
        <p:nvSpPr>
          <p:cNvPr id="22" name="Text 2"/>
          <p:cNvSpPr/>
          <p:nvPr/>
        </p:nvSpPr>
        <p:spPr>
          <a:xfrm>
            <a:off x="1066800" y="1600200"/>
            <a:ext cx="2743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微观检测性能</a:t>
            </a:r>
            <a:endParaRPr lang="en-US" sz="1800" dirty="0"/>
          </a:p>
        </p:txBody>
      </p:sp>
      <p:grpSp>
        <p:nvGrpSpPr>
          <p:cNvPr id="21" name="组合 20"/>
          <p:cNvGrpSpPr/>
          <p:nvPr/>
        </p:nvGrpSpPr>
        <p:grpSpPr>
          <a:xfrm>
            <a:off x="7629737" y="2530158"/>
            <a:ext cx="4260003" cy="2405803"/>
            <a:chOff x="571500" y="4381500"/>
            <a:chExt cx="6141720" cy="1520190"/>
          </a:xfrm>
        </p:grpSpPr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1500" y="4381500"/>
              <a:ext cx="6141720" cy="1520190"/>
            </a:xfrm>
            <a:prstGeom prst="rect">
              <a:avLst/>
            </a:prstGeom>
          </p:spPr>
        </p:pic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85800" y="4526280"/>
              <a:ext cx="171450" cy="196215"/>
            </a:xfrm>
            <a:prstGeom prst="rect">
              <a:avLst/>
            </a:prstGeom>
          </p:spPr>
        </p:pic>
        <p:sp>
          <p:nvSpPr>
            <p:cNvPr id="23" name="Text 3"/>
            <p:cNvSpPr/>
            <p:nvPr/>
          </p:nvSpPr>
          <p:spPr>
            <a:xfrm>
              <a:off x="895350" y="4495800"/>
              <a:ext cx="1371600" cy="2667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800" b="1" dirty="0">
                  <a:solidFill>
                    <a:srgbClr val="FFFFFF"/>
                  </a:solidFill>
                </a:rPr>
                <a:t>核心突破</a:t>
              </a:r>
              <a:endParaRPr lang="en-US" sz="1800" b="1" dirty="0">
                <a:solidFill>
                  <a:srgbClr val="FFFFFF"/>
                </a:solidFill>
              </a:endParaRPr>
            </a:p>
          </p:txBody>
        </p:sp>
        <p:sp>
          <p:nvSpPr>
            <p:cNvPr id="24" name="Text 4"/>
            <p:cNvSpPr/>
            <p:nvPr/>
          </p:nvSpPr>
          <p:spPr>
            <a:xfrm>
              <a:off x="685800" y="4853940"/>
              <a:ext cx="6027420" cy="1905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800" b="1" dirty="0">
                  <a:solidFill>
                    <a:srgbClr val="6EE7B7"/>
                  </a:solidFill>
                </a:rPr>
                <a:t>召回率提升3.17倍</a:t>
              </a:r>
              <a:r>
                <a:rPr lang="en-US" sz="1800" dirty="0">
                  <a:solidFill>
                    <a:srgbClr val="D1D5DB"/>
                  </a:solidFill>
                </a:rPr>
                <a:t>：从23.79%到75.56%</a:t>
              </a:r>
              <a:endParaRPr lang="en-US" sz="1800" dirty="0">
                <a:solidFill>
                  <a:srgbClr val="D1D5DB"/>
                </a:solidFill>
              </a:endParaRPr>
            </a:p>
          </p:txBody>
        </p:sp>
        <p:sp>
          <p:nvSpPr>
            <p:cNvPr id="25" name="Text 5"/>
            <p:cNvSpPr/>
            <p:nvPr/>
          </p:nvSpPr>
          <p:spPr>
            <a:xfrm>
              <a:off x="685800" y="5171440"/>
              <a:ext cx="5387340" cy="1905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800" b="1" dirty="0">
                  <a:solidFill>
                    <a:srgbClr val="22D3EE"/>
                  </a:solidFill>
                </a:rPr>
                <a:t>F1-Score翻倍</a:t>
              </a:r>
              <a:r>
                <a:rPr lang="en-US" sz="1800" dirty="0">
                  <a:solidFill>
                    <a:srgbClr val="D1D5DB"/>
                  </a:solidFill>
                </a:rPr>
                <a:t>：从36.07%到73.83%</a:t>
              </a:r>
              <a:endParaRPr lang="en-US" sz="1800" dirty="0">
                <a:solidFill>
                  <a:srgbClr val="D1D5DB"/>
                </a:solidFill>
              </a:endParaRPr>
            </a:p>
          </p:txBody>
        </p:sp>
        <p:sp>
          <p:nvSpPr>
            <p:cNvPr id="26" name="Text 6"/>
            <p:cNvSpPr/>
            <p:nvPr/>
          </p:nvSpPr>
          <p:spPr>
            <a:xfrm>
              <a:off x="685800" y="5515610"/>
              <a:ext cx="4953000" cy="1905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800" dirty="0">
                  <a:solidFill>
                    <a:srgbClr val="D1D5DB"/>
                  </a:solidFill>
                </a:rPr>
                <a:t>极端低信噪比环境下的性能飞跃</a:t>
              </a:r>
              <a:endParaRPr lang="en-US" sz="1800" dirty="0">
                <a:solidFill>
                  <a:srgbClr val="D1D5DB"/>
                </a:solidFill>
              </a:endParaRPr>
            </a:p>
          </p:txBody>
        </p:sp>
      </p:grpSp>
      <p:sp>
        <p:nvSpPr>
          <p:cNvPr id="32" name="Text 12"/>
          <p:cNvSpPr/>
          <p:nvPr/>
        </p:nvSpPr>
        <p:spPr>
          <a:xfrm>
            <a:off x="563880" y="6339840"/>
            <a:ext cx="105079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9CA3AF"/>
                </a:solidFill>
              </a:rPr>
              <a:t>测试环境：统一底座，极低生命线阈值（0.15），149个目标网格 + 800个空旷网格</a:t>
            </a:r>
            <a:endParaRPr lang="en-US" sz="1600" dirty="0">
              <a:solidFill>
                <a:srgbClr val="9CA3A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79475"/>
            <a:ext cx="1219200" cy="38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" y="1790700"/>
            <a:ext cx="5562600" cy="3162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" y="1981200"/>
            <a:ext cx="219075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" y="2620010"/>
            <a:ext cx="3429000" cy="1905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41041" y="293751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1041" y="3945890"/>
            <a:ext cx="152400" cy="1524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41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</a:rPr>
              <a:t>定性可视化分析</a:t>
            </a:r>
            <a:endParaRPr lang="en-US" sz="2700" dirty="0"/>
          </a:p>
        </p:txBody>
      </p:sp>
      <p:sp>
        <p:nvSpPr>
          <p:cNvPr id="48" name="Text 7"/>
          <p:cNvSpPr/>
          <p:nvPr/>
        </p:nvSpPr>
        <p:spPr>
          <a:xfrm>
            <a:off x="767715" y="1981200"/>
            <a:ext cx="3200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FFFFFF"/>
                </a:solidFill>
              </a:rPr>
              <a:t>CLIP地形分类图谱</a:t>
            </a:r>
            <a:endParaRPr lang="en-US" sz="2000" b="1" dirty="0">
              <a:solidFill>
                <a:srgbClr val="FFFFFF"/>
              </a:solidFill>
            </a:endParaRPr>
          </a:p>
        </p:txBody>
      </p:sp>
      <p:sp>
        <p:nvSpPr>
          <p:cNvPr id="49" name="Text 8"/>
          <p:cNvSpPr/>
          <p:nvPr/>
        </p:nvSpPr>
        <p:spPr>
          <a:xfrm>
            <a:off x="4269641" y="2954020"/>
            <a:ext cx="1066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密林区域</a:t>
            </a: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50" name="Text 9"/>
          <p:cNvSpPr/>
          <p:nvPr/>
        </p:nvSpPr>
        <p:spPr>
          <a:xfrm>
            <a:off x="4041140" y="3265170"/>
            <a:ext cx="1574800" cy="41529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rgbClr val="9CA3AF"/>
                </a:solidFill>
              </a:rPr>
              <a:t>344张样本，树冠特征明显，高级语义成功剥离</a:t>
            </a:r>
            <a:endParaRPr lang="en-US" dirty="0">
              <a:solidFill>
                <a:srgbClr val="9CA3AF"/>
              </a:solidFill>
            </a:endParaRPr>
          </a:p>
        </p:txBody>
      </p:sp>
      <p:sp>
        <p:nvSpPr>
          <p:cNvPr id="51" name="Text 10"/>
          <p:cNvSpPr/>
          <p:nvPr/>
        </p:nvSpPr>
        <p:spPr>
          <a:xfrm>
            <a:off x="4269641" y="3953510"/>
            <a:ext cx="1066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开阔地带</a:t>
            </a: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52" name="Text 11"/>
          <p:cNvSpPr/>
          <p:nvPr/>
        </p:nvSpPr>
        <p:spPr>
          <a:xfrm>
            <a:off x="4041140" y="4220210"/>
            <a:ext cx="1574800" cy="41465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rgbClr val="9CA3AF"/>
                </a:solidFill>
              </a:rPr>
              <a:t>250张样本，碎石与空旷区域区分明确</a:t>
            </a:r>
            <a:endParaRPr lang="en-US" dirty="0">
              <a:solidFill>
                <a:srgbClr val="9CA3AF"/>
              </a:solidFill>
            </a:endParaRPr>
          </a:p>
        </p:txBody>
      </p:sp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22092" y="1805517"/>
            <a:ext cx="5780989" cy="3179548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0071" y="2081999"/>
            <a:ext cx="178181" cy="230402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39815" y="2479040"/>
            <a:ext cx="3034665" cy="250571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98444" y="2709345"/>
            <a:ext cx="138585" cy="184322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98444" y="3400551"/>
            <a:ext cx="237575" cy="276482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57838" y="3469672"/>
            <a:ext cx="118787" cy="13824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98444" y="4185548"/>
            <a:ext cx="2296557" cy="92161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98444" y="4185548"/>
            <a:ext cx="1837183" cy="92161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74480" y="2536190"/>
            <a:ext cx="2613025" cy="2449195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68271" y="2727760"/>
            <a:ext cx="178181" cy="184322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68271" y="3418966"/>
            <a:ext cx="237575" cy="276482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17766" y="3488087"/>
            <a:ext cx="138585" cy="138241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68271" y="3787609"/>
            <a:ext cx="237575" cy="276482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327665" y="3856730"/>
            <a:ext cx="118787" cy="138241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68271" y="4203963"/>
            <a:ext cx="2296557" cy="92161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268271" y="4203963"/>
            <a:ext cx="1607498" cy="92161"/>
          </a:xfrm>
          <a:prstGeom prst="rect">
            <a:avLst/>
          </a:prstGeom>
        </p:spPr>
      </p:pic>
      <p:sp>
        <p:nvSpPr>
          <p:cNvPr id="53" name="Text 12"/>
          <p:cNvSpPr/>
          <p:nvPr/>
        </p:nvSpPr>
        <p:spPr>
          <a:xfrm>
            <a:off x="6517040" y="2035919"/>
            <a:ext cx="4593114" cy="32256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TA-DMA注意力权重热力图</a:t>
            </a:r>
            <a:endParaRPr lang="en-US" sz="1500" dirty="0"/>
          </a:p>
        </p:txBody>
      </p:sp>
      <p:sp>
        <p:nvSpPr>
          <p:cNvPr id="54" name="Text 13"/>
          <p:cNvSpPr/>
          <p:nvPr/>
        </p:nvSpPr>
        <p:spPr>
          <a:xfrm>
            <a:off x="6516221" y="2663265"/>
            <a:ext cx="1583833" cy="27648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密林区场景</a:t>
            </a:r>
            <a:endParaRPr lang="en-US" sz="1800" b="1" dirty="0">
              <a:solidFill>
                <a:srgbClr val="FFFFFF"/>
              </a:solidFill>
            </a:endParaRPr>
          </a:p>
        </p:txBody>
      </p:sp>
      <p:sp>
        <p:nvSpPr>
          <p:cNvPr id="55" name="Text 14"/>
          <p:cNvSpPr/>
          <p:nvPr/>
        </p:nvSpPr>
        <p:spPr>
          <a:xfrm>
            <a:off x="6298444" y="3031908"/>
            <a:ext cx="3769521" cy="23040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D1D5DB"/>
                </a:solidFill>
              </a:rPr>
              <a:t>视觉特征不可靠，树叶遮挡严重</a:t>
            </a:r>
            <a:endParaRPr lang="en-US" sz="1600" dirty="0">
              <a:solidFill>
                <a:srgbClr val="D1D5DB"/>
              </a:solidFill>
            </a:endParaRPr>
          </a:p>
        </p:txBody>
      </p:sp>
      <p:sp>
        <p:nvSpPr>
          <p:cNvPr id="56" name="Text 15"/>
          <p:cNvSpPr/>
          <p:nvPr/>
        </p:nvSpPr>
        <p:spPr>
          <a:xfrm>
            <a:off x="6615211" y="3450261"/>
            <a:ext cx="2328234" cy="23040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Geo-Mask权重：</a:t>
            </a:r>
            <a:r>
              <a:rPr lang="en-US" sz="1600" b="1" dirty="0">
                <a:solidFill>
                  <a:srgbClr val="6EE7B7"/>
                </a:solidFill>
              </a:rPr>
              <a:t>高</a:t>
            </a:r>
            <a:endParaRPr lang="en-US" sz="1600" b="1" dirty="0">
              <a:solidFill>
                <a:srgbClr val="6EE7B7"/>
              </a:solidFill>
            </a:endParaRPr>
          </a:p>
        </p:txBody>
      </p:sp>
      <p:sp>
        <p:nvSpPr>
          <p:cNvPr id="57" name="Text 16"/>
          <p:cNvSpPr/>
          <p:nvPr/>
        </p:nvSpPr>
        <p:spPr>
          <a:xfrm>
            <a:off x="6615211" y="3792235"/>
            <a:ext cx="1496722" cy="23040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RGB权重：</a:t>
            </a:r>
            <a:r>
              <a:rPr lang="en-US" sz="1600" dirty="0">
                <a:solidFill>
                  <a:srgbClr val="9CA3AF"/>
                </a:solidFill>
              </a:rPr>
              <a:t>低</a:t>
            </a:r>
            <a:endParaRPr lang="en-US" sz="1600" dirty="0">
              <a:solidFill>
                <a:srgbClr val="9CA3AF"/>
              </a:solidFill>
            </a:endParaRPr>
          </a:p>
        </p:txBody>
      </p:sp>
      <p:sp>
        <p:nvSpPr>
          <p:cNvPr id="58" name="Text 17"/>
          <p:cNvSpPr/>
          <p:nvPr/>
        </p:nvSpPr>
        <p:spPr>
          <a:xfrm>
            <a:off x="6298444" y="4466030"/>
            <a:ext cx="950300" cy="18432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dirty="0">
                <a:solidFill>
                  <a:srgbClr val="9CA3AF"/>
                </a:solidFill>
              </a:rPr>
              <a:t>先验主导</a:t>
            </a:r>
            <a:endParaRPr lang="en-US" dirty="0">
              <a:solidFill>
                <a:srgbClr val="9CA3AF"/>
              </a:solidFill>
            </a:endParaRPr>
          </a:p>
        </p:txBody>
      </p:sp>
      <p:sp>
        <p:nvSpPr>
          <p:cNvPr id="59" name="Text 18"/>
          <p:cNvSpPr/>
          <p:nvPr/>
        </p:nvSpPr>
        <p:spPr>
          <a:xfrm>
            <a:off x="8330977" y="4466030"/>
            <a:ext cx="617695" cy="18432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dirty="0">
                <a:solidFill>
                  <a:srgbClr val="9CA3AF"/>
                </a:solidFill>
              </a:rPr>
              <a:t>80%</a:t>
            </a:r>
            <a:endParaRPr lang="en-US" dirty="0">
              <a:solidFill>
                <a:srgbClr val="9CA3AF"/>
              </a:solidFill>
            </a:endParaRPr>
          </a:p>
        </p:txBody>
      </p:sp>
      <p:sp>
        <p:nvSpPr>
          <p:cNvPr id="60" name="Text 19"/>
          <p:cNvSpPr/>
          <p:nvPr/>
        </p:nvSpPr>
        <p:spPr>
          <a:xfrm>
            <a:off x="9525644" y="2681680"/>
            <a:ext cx="1773892" cy="27648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开阔地/水域</a:t>
            </a:r>
            <a:endParaRPr lang="en-US" sz="1800" b="1" dirty="0">
              <a:solidFill>
                <a:srgbClr val="FFFFFF"/>
              </a:solidFill>
            </a:endParaRPr>
          </a:p>
        </p:txBody>
      </p:sp>
      <p:sp>
        <p:nvSpPr>
          <p:cNvPr id="61" name="Text 20"/>
          <p:cNvSpPr/>
          <p:nvPr/>
        </p:nvSpPr>
        <p:spPr>
          <a:xfrm>
            <a:off x="9268271" y="3050323"/>
            <a:ext cx="2660839" cy="23040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D1D5DB"/>
                </a:solidFill>
              </a:rPr>
              <a:t>视野极好，冲锋衣显眼</a:t>
            </a:r>
            <a:endParaRPr lang="en-US" sz="1600" dirty="0">
              <a:solidFill>
                <a:srgbClr val="D1D5DB"/>
              </a:solidFill>
            </a:endParaRPr>
          </a:p>
        </p:txBody>
      </p:sp>
      <p:sp>
        <p:nvSpPr>
          <p:cNvPr id="62" name="Text 21"/>
          <p:cNvSpPr/>
          <p:nvPr/>
        </p:nvSpPr>
        <p:spPr>
          <a:xfrm>
            <a:off x="9585038" y="3442006"/>
            <a:ext cx="1496722" cy="23040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RGB权重：</a:t>
            </a:r>
            <a:r>
              <a:rPr lang="en-US" sz="1600" b="1" dirty="0">
                <a:solidFill>
                  <a:srgbClr val="67E8F9"/>
                </a:solidFill>
              </a:rPr>
              <a:t>高</a:t>
            </a:r>
            <a:endParaRPr lang="en-US" sz="1600" b="1" dirty="0">
              <a:solidFill>
                <a:srgbClr val="67E8F9"/>
              </a:solidFill>
            </a:endParaRPr>
          </a:p>
        </p:txBody>
      </p:sp>
      <p:sp>
        <p:nvSpPr>
          <p:cNvPr id="63" name="Text 22"/>
          <p:cNvSpPr/>
          <p:nvPr/>
        </p:nvSpPr>
        <p:spPr>
          <a:xfrm>
            <a:off x="9585038" y="3810650"/>
            <a:ext cx="2328234" cy="23040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Geo-Mask权重：</a:t>
            </a:r>
            <a:r>
              <a:rPr lang="en-US" sz="1600" dirty="0">
                <a:solidFill>
                  <a:srgbClr val="9CA3AF"/>
                </a:solidFill>
              </a:rPr>
              <a:t>低</a:t>
            </a:r>
            <a:endParaRPr lang="en-US" sz="1600" dirty="0">
              <a:solidFill>
                <a:srgbClr val="9CA3AF"/>
              </a:solidFill>
            </a:endParaRPr>
          </a:p>
        </p:txBody>
      </p:sp>
      <p:sp>
        <p:nvSpPr>
          <p:cNvPr id="64" name="Text 23"/>
          <p:cNvSpPr/>
          <p:nvPr/>
        </p:nvSpPr>
        <p:spPr>
          <a:xfrm>
            <a:off x="9268271" y="4484445"/>
            <a:ext cx="950300" cy="18432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dirty="0">
                <a:solidFill>
                  <a:srgbClr val="9CA3AF"/>
                </a:solidFill>
              </a:rPr>
              <a:t>视觉主导</a:t>
            </a:r>
            <a:endParaRPr lang="en-US" dirty="0">
              <a:solidFill>
                <a:srgbClr val="9CA3AF"/>
              </a:solidFill>
            </a:endParaRPr>
          </a:p>
        </p:txBody>
      </p:sp>
      <p:sp>
        <p:nvSpPr>
          <p:cNvPr id="65" name="Text 24"/>
          <p:cNvSpPr/>
          <p:nvPr/>
        </p:nvSpPr>
        <p:spPr>
          <a:xfrm>
            <a:off x="11300804" y="4484445"/>
            <a:ext cx="617695" cy="18432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dirty="0">
                <a:solidFill>
                  <a:srgbClr val="9CA3AF"/>
                </a:solidFill>
              </a:rPr>
              <a:t>70%</a:t>
            </a:r>
            <a:endParaRPr lang="en-US" dirty="0">
              <a:solidFill>
                <a:srgbClr val="9CA3A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901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24660"/>
            <a:ext cx="5486400" cy="209296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191516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010410"/>
            <a:ext cx="19050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008120"/>
            <a:ext cx="5486400" cy="220916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4198620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4293870"/>
            <a:ext cx="171450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4000500"/>
            <a:ext cx="2476500" cy="762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76600" y="4000500"/>
            <a:ext cx="2476500" cy="762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1600200"/>
            <a:ext cx="5486400" cy="4800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1790700"/>
            <a:ext cx="38100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4150" y="1885950"/>
            <a:ext cx="190500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rcRect t="1933"/>
          <a:stretch>
            <a:fillRect/>
          </a:stretch>
        </p:blipFill>
        <p:spPr>
          <a:xfrm>
            <a:off x="6305550" y="2408555"/>
            <a:ext cx="5238750" cy="191706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4343400"/>
            <a:ext cx="5105400" cy="180784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91300" y="4533900"/>
            <a:ext cx="17145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</a:rPr>
              <a:t>先知陷阱与算法鲁棒性深度剖析</a:t>
            </a:r>
            <a:endParaRPr lang="en-US" sz="2700" dirty="0"/>
          </a:p>
        </p:txBody>
      </p:sp>
      <p:sp>
        <p:nvSpPr>
          <p:cNvPr id="25" name="Text 2"/>
          <p:cNvSpPr/>
          <p:nvPr/>
        </p:nvSpPr>
        <p:spPr>
          <a:xfrm>
            <a:off x="1143000" y="1972310"/>
            <a:ext cx="5562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核心挑战：完美先验假说的局限性</a:t>
            </a:r>
            <a:endParaRPr lang="en-US" sz="1500" dirty="0"/>
          </a:p>
        </p:txBody>
      </p:sp>
      <p:grpSp>
        <p:nvGrpSpPr>
          <p:cNvPr id="42" name="组合 41"/>
          <p:cNvGrpSpPr/>
          <p:nvPr/>
        </p:nvGrpSpPr>
        <p:grpSpPr>
          <a:xfrm>
            <a:off x="1047750" y="2508885"/>
            <a:ext cx="5353050" cy="190500"/>
            <a:chOff x="1020" y="3796"/>
            <a:chExt cx="8430" cy="300"/>
          </a:xfrm>
        </p:grpSpPr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20" y="3844"/>
              <a:ext cx="270" cy="210"/>
            </a:xfrm>
            <a:prstGeom prst="rect">
              <a:avLst/>
            </a:prstGeom>
          </p:spPr>
        </p:pic>
        <p:sp>
          <p:nvSpPr>
            <p:cNvPr id="26" name="Text 3"/>
            <p:cNvSpPr/>
            <p:nvPr/>
          </p:nvSpPr>
          <p:spPr>
            <a:xfrm>
              <a:off x="1410" y="3796"/>
              <a:ext cx="8040" cy="3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dirty="0">
                  <a:solidFill>
                    <a:srgbClr val="D1D5DB"/>
                  </a:solidFill>
                </a:rPr>
                <a:t>遇险者位移导致先验位置偏差</a:t>
              </a:r>
              <a:endParaRPr lang="en-US" dirty="0">
                <a:solidFill>
                  <a:srgbClr val="D1D5DB"/>
                </a:solidFill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104900" y="2881630"/>
            <a:ext cx="5334000" cy="190500"/>
            <a:chOff x="1020" y="4156"/>
            <a:chExt cx="8400" cy="300"/>
          </a:xfrm>
        </p:grpSpPr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20" y="4204"/>
              <a:ext cx="240" cy="210"/>
            </a:xfrm>
            <a:prstGeom prst="rect">
              <a:avLst/>
            </a:prstGeom>
          </p:spPr>
        </p:pic>
        <p:sp>
          <p:nvSpPr>
            <p:cNvPr id="27" name="Text 4"/>
            <p:cNvSpPr/>
            <p:nvPr/>
          </p:nvSpPr>
          <p:spPr>
            <a:xfrm>
              <a:off x="1380" y="4156"/>
              <a:ext cx="8040" cy="3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dirty="0">
                  <a:solidFill>
                    <a:srgbClr val="D1D5DB"/>
                  </a:solidFill>
                </a:rPr>
                <a:t>地理模型固有测量误差</a:t>
              </a:r>
              <a:endParaRPr lang="en-US" dirty="0">
                <a:solidFill>
                  <a:srgbClr val="D1D5DB"/>
                </a:solidFill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085850" y="3321685"/>
            <a:ext cx="5353050" cy="190500"/>
            <a:chOff x="1020" y="4516"/>
            <a:chExt cx="8430" cy="300"/>
          </a:xfrm>
        </p:grpSpPr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20" y="4564"/>
              <a:ext cx="270" cy="210"/>
            </a:xfrm>
            <a:prstGeom prst="rect">
              <a:avLst/>
            </a:prstGeom>
          </p:spPr>
        </p:pic>
        <p:sp>
          <p:nvSpPr>
            <p:cNvPr id="28" name="Text 5"/>
            <p:cNvSpPr/>
            <p:nvPr/>
          </p:nvSpPr>
          <p:spPr>
            <a:xfrm>
              <a:off x="1410" y="4516"/>
              <a:ext cx="8040" cy="3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dirty="0">
                  <a:solidFill>
                    <a:srgbClr val="D1D5DB"/>
                  </a:solidFill>
                </a:rPr>
                <a:t>天气变化影响地形特征</a:t>
              </a:r>
              <a:endParaRPr lang="en-US" dirty="0">
                <a:solidFill>
                  <a:srgbClr val="D1D5DB"/>
                </a:solidFill>
              </a:endParaRPr>
            </a:p>
          </p:txBody>
        </p:sp>
      </p:grpSp>
      <p:sp>
        <p:nvSpPr>
          <p:cNvPr id="29" name="Text 6"/>
          <p:cNvSpPr/>
          <p:nvPr/>
        </p:nvSpPr>
        <p:spPr>
          <a:xfrm>
            <a:off x="1143000" y="4255770"/>
            <a:ext cx="3048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FFFFFF"/>
                </a:solidFill>
              </a:rPr>
              <a:t>极限压力测试设计</a:t>
            </a:r>
            <a:endParaRPr lang="en-US" sz="2000" b="1" dirty="0">
              <a:solidFill>
                <a:srgbClr val="FFFFFF"/>
              </a:solidFill>
            </a:endParaRPr>
          </a:p>
        </p:txBody>
      </p:sp>
      <p:sp>
        <p:nvSpPr>
          <p:cNvPr id="30" name="Text 7"/>
          <p:cNvSpPr/>
          <p:nvPr/>
        </p:nvSpPr>
        <p:spPr>
          <a:xfrm>
            <a:off x="762000" y="4808220"/>
            <a:ext cx="22479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F59E0B"/>
                </a:solidFill>
              </a:rPr>
              <a:t>20%</a:t>
            </a:r>
            <a:endParaRPr lang="en-US" sz="2800" b="1" dirty="0">
              <a:solidFill>
                <a:srgbClr val="F59E0B"/>
              </a:solidFill>
            </a:endParaRPr>
          </a:p>
        </p:txBody>
      </p:sp>
      <p:sp>
        <p:nvSpPr>
          <p:cNvPr id="31" name="Text 8"/>
          <p:cNvSpPr/>
          <p:nvPr/>
        </p:nvSpPr>
        <p:spPr>
          <a:xfrm>
            <a:off x="762000" y="5151120"/>
            <a:ext cx="22479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D1D5DB"/>
                </a:solidFill>
              </a:rPr>
              <a:t>走偏误差注入</a:t>
            </a:r>
            <a:endParaRPr lang="en-US" sz="1600" dirty="0">
              <a:solidFill>
                <a:srgbClr val="D1D5DB"/>
              </a:solidFill>
            </a:endParaRPr>
          </a:p>
        </p:txBody>
      </p:sp>
      <p:sp>
        <p:nvSpPr>
          <p:cNvPr id="32" name="Text 9"/>
          <p:cNvSpPr/>
          <p:nvPr/>
        </p:nvSpPr>
        <p:spPr>
          <a:xfrm>
            <a:off x="3390900" y="4808220"/>
            <a:ext cx="22479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F59E0B"/>
                </a:solidFill>
              </a:rPr>
              <a:t>15%</a:t>
            </a:r>
            <a:endParaRPr lang="en-US" sz="2800" b="1" dirty="0">
              <a:solidFill>
                <a:srgbClr val="F59E0B"/>
              </a:solidFill>
            </a:endParaRPr>
          </a:p>
        </p:txBody>
      </p:sp>
      <p:sp>
        <p:nvSpPr>
          <p:cNvPr id="33" name="Text 10"/>
          <p:cNvSpPr/>
          <p:nvPr/>
        </p:nvSpPr>
        <p:spPr>
          <a:xfrm>
            <a:off x="3390900" y="5151120"/>
            <a:ext cx="22479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D1D5DB"/>
                </a:solidFill>
              </a:rPr>
              <a:t>假热点干扰</a:t>
            </a:r>
            <a:endParaRPr lang="en-US" sz="1600" dirty="0">
              <a:solidFill>
                <a:srgbClr val="D1D5DB"/>
              </a:solidFill>
            </a:endParaRPr>
          </a:p>
        </p:txBody>
      </p:sp>
      <p:sp>
        <p:nvSpPr>
          <p:cNvPr id="34" name="Text 11"/>
          <p:cNvSpPr/>
          <p:nvPr/>
        </p:nvSpPr>
        <p:spPr>
          <a:xfrm>
            <a:off x="762000" y="5570220"/>
            <a:ext cx="4792345" cy="42481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D1D5DB"/>
                </a:solidFill>
              </a:rPr>
              <a:t>Pearson相关性诊断：r = 0.08 (p &gt; 0.05)，</a:t>
            </a:r>
            <a:endParaRPr lang="en-US" sz="1600" dirty="0">
              <a:solidFill>
                <a:srgbClr val="D1D5DB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D1D5DB"/>
                </a:solidFill>
              </a:rPr>
              <a:t>验证"高噪情报"极端测试环境</a:t>
            </a:r>
            <a:endParaRPr lang="en-US" sz="1600" dirty="0">
              <a:solidFill>
                <a:srgbClr val="D1D5DB"/>
              </a:solidFill>
            </a:endParaRPr>
          </a:p>
        </p:txBody>
      </p:sp>
      <p:sp>
        <p:nvSpPr>
          <p:cNvPr id="35" name="Text 12"/>
          <p:cNvSpPr/>
          <p:nvPr/>
        </p:nvSpPr>
        <p:spPr>
          <a:xfrm>
            <a:off x="6934200" y="1847850"/>
            <a:ext cx="3429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极限压测下性能对比</a:t>
            </a:r>
            <a:endParaRPr lang="en-US" sz="1500" dirty="0"/>
          </a:p>
        </p:txBody>
      </p:sp>
      <p:sp>
        <p:nvSpPr>
          <p:cNvPr id="36" name="Text 13"/>
          <p:cNvSpPr/>
          <p:nvPr/>
        </p:nvSpPr>
        <p:spPr>
          <a:xfrm>
            <a:off x="6838950" y="4495800"/>
            <a:ext cx="1219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关键结论</a:t>
            </a:r>
            <a:endParaRPr lang="en-US" sz="1200" dirty="0"/>
          </a:p>
        </p:txBody>
      </p:sp>
      <p:sp>
        <p:nvSpPr>
          <p:cNvPr id="37" name="Text 14"/>
          <p:cNvSpPr/>
          <p:nvPr/>
        </p:nvSpPr>
        <p:spPr>
          <a:xfrm>
            <a:off x="6591300" y="4800600"/>
            <a:ext cx="23241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EE7B7"/>
                </a:solidFill>
              </a:rPr>
              <a:t>56.51%</a:t>
            </a:r>
            <a:endParaRPr lang="en-US" sz="1800" dirty="0"/>
          </a:p>
        </p:txBody>
      </p:sp>
      <p:sp>
        <p:nvSpPr>
          <p:cNvPr id="38" name="Text 15"/>
          <p:cNvSpPr/>
          <p:nvPr/>
        </p:nvSpPr>
        <p:spPr>
          <a:xfrm>
            <a:off x="6591300" y="5105400"/>
            <a:ext cx="23241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</a:rPr>
              <a:t>AUC提升</a:t>
            </a:r>
            <a:endParaRPr lang="en-US" sz="1050" dirty="0"/>
          </a:p>
        </p:txBody>
      </p:sp>
      <p:sp>
        <p:nvSpPr>
          <p:cNvPr id="39" name="Text 16"/>
          <p:cNvSpPr/>
          <p:nvPr/>
        </p:nvSpPr>
        <p:spPr>
          <a:xfrm>
            <a:off x="9067800" y="4800600"/>
            <a:ext cx="23241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EE7B7"/>
                </a:solidFill>
              </a:rPr>
              <a:t>&gt;250%</a:t>
            </a:r>
            <a:endParaRPr lang="en-US" sz="1800" dirty="0"/>
          </a:p>
        </p:txBody>
      </p:sp>
      <p:sp>
        <p:nvSpPr>
          <p:cNvPr id="40" name="Text 17"/>
          <p:cNvSpPr/>
          <p:nvPr/>
        </p:nvSpPr>
        <p:spPr>
          <a:xfrm>
            <a:off x="9067800" y="5105400"/>
            <a:ext cx="23241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</a:rPr>
              <a:t>TDPD提升</a:t>
            </a:r>
            <a:endParaRPr lang="en-US" sz="1050" dirty="0"/>
          </a:p>
        </p:txBody>
      </p:sp>
      <p:sp>
        <p:nvSpPr>
          <p:cNvPr id="41" name="Text 18"/>
          <p:cNvSpPr/>
          <p:nvPr/>
        </p:nvSpPr>
        <p:spPr>
          <a:xfrm>
            <a:off x="6591300" y="5509895"/>
            <a:ext cx="4800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D1D5DB"/>
                </a:solidFill>
              </a:rPr>
              <a:t>即便在先验情报存在严重偏差的极限压测下，</a:t>
            </a:r>
            <a:endParaRPr lang="en-US" dirty="0">
              <a:solidFill>
                <a:srgbClr val="D1D5DB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D1D5DB"/>
                </a:solidFill>
              </a:rPr>
              <a:t>本算法综合搜救效能依然对传统遍历算法形成碾压式优势</a:t>
            </a:r>
            <a:endParaRPr lang="en-US" dirty="0">
              <a:solidFill>
                <a:srgbClr val="D1D5D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73225"/>
            <a:ext cx="3555950" cy="3860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52500"/>
            <a:ext cx="1219200" cy="38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67" y="3266317"/>
            <a:ext cx="317495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4966" y="1658987"/>
            <a:ext cx="3555950" cy="3860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0350" y="5206961"/>
            <a:ext cx="3174950" cy="7239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8072" y="1692771"/>
            <a:ext cx="3556099" cy="38608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7571" y="3025775"/>
            <a:ext cx="3175099" cy="4572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1100" y="5202783"/>
            <a:ext cx="3175099" cy="7620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45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</a:rPr>
              <a:t>下一步计划：核心指标持续优化</a:t>
            </a:r>
            <a:endParaRPr lang="en-US" sz="2700" dirty="0"/>
          </a:p>
        </p:txBody>
      </p:sp>
      <p:grpSp>
        <p:nvGrpSpPr>
          <p:cNvPr id="38" name="组合 37"/>
          <p:cNvGrpSpPr/>
          <p:nvPr/>
        </p:nvGrpSpPr>
        <p:grpSpPr>
          <a:xfrm>
            <a:off x="634950" y="2187575"/>
            <a:ext cx="3976370" cy="457200"/>
            <a:chOff x="634950" y="1733550"/>
            <a:chExt cx="3976370" cy="457200"/>
          </a:xfrm>
        </p:grpSpPr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4950" y="1733550"/>
              <a:ext cx="457200" cy="457200"/>
            </a:xfrm>
            <a:prstGeom prst="rect">
              <a:avLst/>
            </a:prstGeom>
          </p:spPr>
        </p:pic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20675" y="1847850"/>
              <a:ext cx="285750" cy="228600"/>
            </a:xfrm>
            <a:prstGeom prst="rect">
              <a:avLst/>
            </a:prstGeom>
          </p:spPr>
        </p:pic>
        <p:sp>
          <p:nvSpPr>
            <p:cNvPr id="46" name="Text 1"/>
            <p:cNvSpPr/>
            <p:nvPr/>
          </p:nvSpPr>
          <p:spPr>
            <a:xfrm>
              <a:off x="1182320" y="1846580"/>
              <a:ext cx="3429000" cy="2667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800" b="1" dirty="0">
                  <a:solidFill>
                    <a:srgbClr val="FFFFFF"/>
                  </a:solidFill>
                </a:rPr>
                <a:t>参数空间自动化寻优</a:t>
              </a:r>
              <a:endParaRPr lang="en-US" sz="1800" b="1" dirty="0">
                <a:solidFill>
                  <a:srgbClr val="FFFFFF"/>
                </a:solidFill>
              </a:endParaRPr>
            </a:p>
          </p:txBody>
        </p:sp>
      </p:grpSp>
      <p:sp>
        <p:nvSpPr>
          <p:cNvPr id="47" name="Text 2"/>
          <p:cNvSpPr/>
          <p:nvPr/>
        </p:nvSpPr>
        <p:spPr>
          <a:xfrm>
            <a:off x="763905" y="3100705"/>
            <a:ext cx="3175635" cy="18923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 err="1">
                <a:solidFill>
                  <a:srgbClr val="D1D5DB"/>
                </a:solidFill>
              </a:rPr>
              <a:t>目标</a:t>
            </a:r>
            <a:r>
              <a:rPr lang="en-US" sz="1600" b="1" dirty="0">
                <a:solidFill>
                  <a:srgbClr val="D1D5DB"/>
                </a:solidFill>
              </a:rPr>
              <a:t>：</a:t>
            </a:r>
            <a:endParaRPr lang="en-US" sz="1600" b="1" dirty="0">
              <a:solidFill>
                <a:srgbClr val="D1D5DB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 err="1">
                <a:solidFill>
                  <a:srgbClr val="D1D5DB"/>
                </a:solidFill>
              </a:rPr>
              <a:t>突破当前</a:t>
            </a:r>
            <a:r>
              <a:rPr lang="en-US" sz="1600" dirty="0">
                <a:solidFill>
                  <a:srgbClr val="D1D5DB"/>
                </a:solidFill>
              </a:rPr>
              <a:t> F1-Score 瓶颈 (37.04%)</a:t>
            </a:r>
            <a:endParaRPr lang="en-US" sz="1600" dirty="0"/>
          </a:p>
        </p:txBody>
      </p:sp>
      <p:grpSp>
        <p:nvGrpSpPr>
          <p:cNvPr id="30" name="组合 29"/>
          <p:cNvGrpSpPr/>
          <p:nvPr/>
        </p:nvGrpSpPr>
        <p:grpSpPr>
          <a:xfrm>
            <a:off x="699565" y="3725192"/>
            <a:ext cx="3232100" cy="538162"/>
            <a:chOff x="773214" y="2566988"/>
            <a:chExt cx="3232100" cy="538162"/>
          </a:xfrm>
        </p:grpSpPr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73214" y="2597200"/>
              <a:ext cx="133350" cy="133350"/>
            </a:xfrm>
            <a:prstGeom prst="rect">
              <a:avLst/>
            </a:prstGeom>
          </p:spPr>
        </p:pic>
        <p:pic>
          <p:nvPicPr>
            <p:cNvPr id="11" name="Image 9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82270" y="2876550"/>
              <a:ext cx="1473101" cy="228600"/>
            </a:xfrm>
            <a:prstGeom prst="rect">
              <a:avLst/>
            </a:prstGeom>
          </p:spPr>
        </p:pic>
        <p:pic>
          <p:nvPicPr>
            <p:cNvPr id="12" name="Image 10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331571" y="2876550"/>
              <a:ext cx="1473250" cy="228600"/>
            </a:xfrm>
            <a:prstGeom prst="rect">
              <a:avLst/>
            </a:prstGeom>
          </p:spPr>
        </p:pic>
        <p:sp>
          <p:nvSpPr>
            <p:cNvPr id="48" name="Text 3"/>
            <p:cNvSpPr/>
            <p:nvPr/>
          </p:nvSpPr>
          <p:spPr>
            <a:xfrm>
              <a:off x="982764" y="2566988"/>
              <a:ext cx="3022550" cy="1905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6EE7B7"/>
                  </a:solidFill>
                </a:rPr>
                <a:t>当前手动参数：</a:t>
              </a:r>
              <a:endParaRPr lang="en-US" sz="1200" dirty="0"/>
            </a:p>
          </p:txBody>
        </p:sp>
        <p:sp>
          <p:nvSpPr>
            <p:cNvPr id="49" name="Text 4"/>
            <p:cNvSpPr/>
            <p:nvPr/>
          </p:nvSpPr>
          <p:spPr>
            <a:xfrm>
              <a:off x="820370" y="2924175"/>
              <a:ext cx="1143000" cy="13335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200"/>
                </a:lnSpc>
                <a:buNone/>
              </a:pPr>
              <a:r>
                <a:rPr lang="en-US" sz="1050" dirty="0">
                  <a:solidFill>
                    <a:srgbClr val="67E8F9"/>
                  </a:solidFill>
                </a:rPr>
                <a:t>α = 1.2</a:t>
              </a:r>
              <a:endParaRPr lang="en-US" sz="1050" dirty="0"/>
            </a:p>
          </p:txBody>
        </p:sp>
        <p:sp>
          <p:nvSpPr>
            <p:cNvPr id="50" name="Text 5"/>
            <p:cNvSpPr/>
            <p:nvPr/>
          </p:nvSpPr>
          <p:spPr>
            <a:xfrm>
              <a:off x="2369671" y="2924175"/>
              <a:ext cx="1371600" cy="13335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200"/>
                </a:lnSpc>
                <a:buNone/>
              </a:pPr>
              <a:r>
                <a:rPr lang="en-US" sz="1050" dirty="0">
                  <a:solidFill>
                    <a:srgbClr val="6EE7B7"/>
                  </a:solidFill>
                </a:rPr>
                <a:t>β = 0.95</a:t>
              </a:r>
              <a:endParaRPr lang="en-US" sz="1050" dirty="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25694" y="4361256"/>
            <a:ext cx="3354292" cy="352308"/>
            <a:chOff x="722576" y="3250722"/>
            <a:chExt cx="6228037" cy="293591"/>
          </a:xfrm>
        </p:grpSpPr>
        <p:pic>
          <p:nvPicPr>
            <p:cNvPr id="13" name="Image 11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22576" y="3250722"/>
              <a:ext cx="211046" cy="165101"/>
            </a:xfrm>
            <a:prstGeom prst="rect">
              <a:avLst/>
            </a:prstGeom>
          </p:spPr>
        </p:pic>
        <p:sp>
          <p:nvSpPr>
            <p:cNvPr id="51" name="Text 6"/>
            <p:cNvSpPr/>
            <p:nvPr/>
          </p:nvSpPr>
          <p:spPr>
            <a:xfrm>
              <a:off x="976533" y="3353813"/>
              <a:ext cx="5974080" cy="1905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 b="1" dirty="0" err="1">
                  <a:solidFill>
                    <a:srgbClr val="D1D5DB"/>
                  </a:solidFill>
                </a:rPr>
                <a:t>方法</a:t>
              </a:r>
              <a:r>
                <a:rPr lang="en-US" b="1" dirty="0">
                  <a:solidFill>
                    <a:srgbClr val="D1D5DB"/>
                  </a:solidFill>
                </a:rPr>
                <a:t>：</a:t>
              </a:r>
              <a:endParaRPr lang="en-US" b="1" dirty="0">
                <a:solidFill>
                  <a:srgbClr val="D1D5DB"/>
                </a:solidFill>
              </a:endParaRPr>
            </a:p>
            <a:p>
              <a:pPr marL="0" indent="0">
                <a:lnSpc>
                  <a:spcPct val="150000"/>
                </a:lnSpc>
                <a:buNone/>
              </a:pPr>
              <a:r>
                <a:rPr lang="en-US" dirty="0" err="1">
                  <a:solidFill>
                    <a:srgbClr val="D1D5DB"/>
                  </a:solidFill>
                </a:rPr>
                <a:t>引入贝叶斯优化自动搜索最优</a:t>
              </a:r>
              <a:r>
                <a:rPr lang="en-US" dirty="0">
                  <a:solidFill>
                    <a:srgbClr val="D1D5DB"/>
                  </a:solidFill>
                </a:rPr>
                <a:t> (α, β) 组合</a:t>
              </a:r>
              <a:endParaRPr lang="en-US" dirty="0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4566820" y="2187575"/>
            <a:ext cx="2868930" cy="457200"/>
            <a:chOff x="4566820" y="1733550"/>
            <a:chExt cx="2868930" cy="457200"/>
          </a:xfrm>
        </p:grpSpPr>
        <p:pic>
          <p:nvPicPr>
            <p:cNvPr id="17" name="Image 15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566820" y="1733550"/>
              <a:ext cx="457200" cy="457200"/>
            </a:xfrm>
            <a:prstGeom prst="rect">
              <a:avLst/>
            </a:prstGeom>
          </p:spPr>
        </p:pic>
        <p:pic>
          <p:nvPicPr>
            <p:cNvPr id="18" name="Image 16" descr="preencoded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681120" y="1847850"/>
              <a:ext cx="228600" cy="228600"/>
            </a:xfrm>
            <a:prstGeom prst="rect">
              <a:avLst/>
            </a:prstGeom>
          </p:spPr>
        </p:pic>
        <p:sp>
          <p:nvSpPr>
            <p:cNvPr id="57" name="Text 12"/>
            <p:cNvSpPr/>
            <p:nvPr/>
          </p:nvSpPr>
          <p:spPr>
            <a:xfrm>
              <a:off x="5149750" y="1855470"/>
              <a:ext cx="2286000" cy="2667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800" b="1" dirty="0">
                  <a:solidFill>
                    <a:srgbClr val="FFFFFF"/>
                  </a:solidFill>
                </a:rPr>
                <a:t>困难样本挖掘</a:t>
              </a:r>
              <a:endParaRPr lang="en-US" sz="1800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620160" y="2803525"/>
            <a:ext cx="4583430" cy="190500"/>
            <a:chOff x="4620160" y="2305050"/>
            <a:chExt cx="4583430" cy="190500"/>
          </a:xfrm>
        </p:grpSpPr>
        <p:pic>
          <p:nvPicPr>
            <p:cNvPr id="19" name="Image 17" descr="preencoded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620160" y="2326372"/>
              <a:ext cx="133350" cy="133350"/>
            </a:xfrm>
            <a:prstGeom prst="rect">
              <a:avLst/>
            </a:prstGeom>
          </p:spPr>
        </p:pic>
        <p:sp>
          <p:nvSpPr>
            <p:cNvPr id="58" name="Text 13"/>
            <p:cNvSpPr/>
            <p:nvPr/>
          </p:nvSpPr>
          <p:spPr>
            <a:xfrm>
              <a:off x="4776370" y="2305050"/>
              <a:ext cx="4427220" cy="1905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b="1" dirty="0">
                  <a:solidFill>
                    <a:srgbClr val="D1D5DB"/>
                  </a:solidFill>
                </a:rPr>
                <a:t>目标：</a:t>
              </a:r>
              <a:r>
                <a:rPr lang="en-US" dirty="0">
                  <a:solidFill>
                    <a:srgbClr val="D1D5DB"/>
                  </a:solidFill>
                </a:rPr>
                <a:t>提升模型在复杂地形下的鲁棒性</a:t>
              </a:r>
              <a:endParaRPr lang="en-US" dirty="0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4532642" y="3025279"/>
            <a:ext cx="3342478" cy="867187"/>
            <a:chOff x="4532642" y="3025279"/>
            <a:chExt cx="3342478" cy="867187"/>
          </a:xfrm>
        </p:grpSpPr>
        <p:pic>
          <p:nvPicPr>
            <p:cNvPr id="20" name="Image 18" descr="preencoded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4532642" y="3025279"/>
              <a:ext cx="3174950" cy="685800"/>
            </a:xfrm>
            <a:prstGeom prst="rect">
              <a:avLst/>
            </a:prstGeom>
          </p:spPr>
        </p:pic>
        <p:pic>
          <p:nvPicPr>
            <p:cNvPr id="21" name="Image 19" descr="preencoded.pn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643020" y="3132187"/>
              <a:ext cx="133350" cy="133350"/>
            </a:xfrm>
            <a:prstGeom prst="rect">
              <a:avLst/>
            </a:prstGeom>
          </p:spPr>
        </p:pic>
        <p:pic>
          <p:nvPicPr>
            <p:cNvPr id="22" name="Image 20" descr="preencoded.pn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642387" y="3450202"/>
              <a:ext cx="104775" cy="114300"/>
            </a:xfrm>
            <a:prstGeom prst="rect">
              <a:avLst/>
            </a:prstGeom>
          </p:spPr>
        </p:pic>
        <p:pic>
          <p:nvPicPr>
            <p:cNvPr id="23" name="Image 21" descr="preencoded.pn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4632862" y="3765962"/>
              <a:ext cx="114300" cy="114300"/>
            </a:xfrm>
            <a:prstGeom prst="rect">
              <a:avLst/>
            </a:prstGeom>
          </p:spPr>
        </p:pic>
        <p:sp>
          <p:nvSpPr>
            <p:cNvPr id="59" name="Text 14"/>
            <p:cNvSpPr/>
            <p:nvPr/>
          </p:nvSpPr>
          <p:spPr>
            <a:xfrm>
              <a:off x="4852570" y="3101975"/>
              <a:ext cx="3022550" cy="1905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 b="1" dirty="0">
                  <a:solidFill>
                    <a:srgbClr val="6EE7B7"/>
                  </a:solidFill>
                </a:rPr>
                <a:t>当前挑战：</a:t>
              </a:r>
              <a:endParaRPr lang="en-US" dirty="0"/>
            </a:p>
          </p:txBody>
        </p:sp>
        <p:sp>
          <p:nvSpPr>
            <p:cNvPr id="60" name="Text 15"/>
            <p:cNvSpPr/>
            <p:nvPr/>
          </p:nvSpPr>
          <p:spPr>
            <a:xfrm>
              <a:off x="4785262" y="3424306"/>
              <a:ext cx="3022550" cy="152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dirty="0">
                  <a:solidFill>
                    <a:srgbClr val="D1D5DB"/>
                  </a:solidFill>
                </a:rPr>
                <a:t>密林区重度遮挡样本</a:t>
              </a:r>
              <a:endParaRPr lang="en-US" dirty="0"/>
            </a:p>
          </p:txBody>
        </p:sp>
        <p:sp>
          <p:nvSpPr>
            <p:cNvPr id="61" name="Text 16"/>
            <p:cNvSpPr/>
            <p:nvPr/>
          </p:nvSpPr>
          <p:spPr>
            <a:xfrm>
              <a:off x="4785262" y="3740066"/>
              <a:ext cx="3022550" cy="152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dirty="0">
                  <a:solidFill>
                    <a:srgbClr val="D1D5DB"/>
                  </a:solidFill>
                </a:rPr>
                <a:t>悬崖边缘微小目标</a:t>
              </a:r>
              <a:endParaRPr lang="en-US" dirty="0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571350" y="4283589"/>
            <a:ext cx="3203574" cy="340893"/>
            <a:chOff x="4583795" y="3532872"/>
            <a:chExt cx="6116967" cy="340893"/>
          </a:xfrm>
        </p:grpSpPr>
        <p:pic>
          <p:nvPicPr>
            <p:cNvPr id="24" name="Image 22" descr="preencoded.pn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583795" y="3532872"/>
              <a:ext cx="201272" cy="201295"/>
            </a:xfrm>
            <a:prstGeom prst="rect">
              <a:avLst/>
            </a:prstGeom>
          </p:spPr>
        </p:pic>
        <p:sp>
          <p:nvSpPr>
            <p:cNvPr id="62" name="Text 17"/>
            <p:cNvSpPr/>
            <p:nvPr/>
          </p:nvSpPr>
          <p:spPr>
            <a:xfrm>
              <a:off x="4886701" y="3683265"/>
              <a:ext cx="5814061" cy="1905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 b="1" dirty="0" err="1">
                  <a:solidFill>
                    <a:srgbClr val="D1D5DB"/>
                  </a:solidFill>
                </a:rPr>
                <a:t>方法</a:t>
              </a:r>
              <a:r>
                <a:rPr lang="en-US" b="1" dirty="0">
                  <a:solidFill>
                    <a:srgbClr val="D1D5DB"/>
                  </a:solidFill>
                </a:rPr>
                <a:t>：</a:t>
              </a:r>
              <a:endParaRPr lang="en-US" b="1" dirty="0">
                <a:solidFill>
                  <a:srgbClr val="D1D5DB"/>
                </a:solidFill>
              </a:endParaRPr>
            </a:p>
            <a:p>
              <a:pPr marL="0" indent="0">
                <a:lnSpc>
                  <a:spcPct val="150000"/>
                </a:lnSpc>
                <a:buNone/>
              </a:pPr>
              <a:r>
                <a:rPr lang="en-US" dirty="0" err="1">
                  <a:solidFill>
                    <a:srgbClr val="D1D5DB"/>
                  </a:solidFill>
                </a:rPr>
                <a:t>引入针对性地形的</a:t>
              </a:r>
              <a:r>
                <a:rPr lang="en-US" dirty="0">
                  <a:solidFill>
                    <a:srgbClr val="D1D5DB"/>
                  </a:solidFill>
                </a:rPr>
                <a:t> Focal Loss </a:t>
              </a:r>
              <a:endParaRPr lang="en-US" dirty="0">
                <a:solidFill>
                  <a:srgbClr val="D1D5DB"/>
                </a:solidFill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8427571" y="2187575"/>
            <a:ext cx="3232150" cy="457200"/>
            <a:chOff x="8427571" y="1733550"/>
            <a:chExt cx="3232150" cy="457200"/>
          </a:xfrm>
        </p:grpSpPr>
        <p:pic>
          <p:nvPicPr>
            <p:cNvPr id="32" name="Image 30" descr="preencoded.pn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8427571" y="1733550"/>
              <a:ext cx="457200" cy="457200"/>
            </a:xfrm>
            <a:prstGeom prst="rect">
              <a:avLst/>
            </a:prstGeom>
          </p:spPr>
        </p:pic>
        <p:pic>
          <p:nvPicPr>
            <p:cNvPr id="33" name="Image 31" descr="preencoded.pn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8541871" y="1847850"/>
              <a:ext cx="228600" cy="228600"/>
            </a:xfrm>
            <a:prstGeom prst="rect">
              <a:avLst/>
            </a:prstGeom>
          </p:spPr>
        </p:pic>
        <p:sp>
          <p:nvSpPr>
            <p:cNvPr id="66" name="Text 21"/>
            <p:cNvSpPr/>
            <p:nvPr/>
          </p:nvSpPr>
          <p:spPr>
            <a:xfrm>
              <a:off x="8992721" y="1846580"/>
              <a:ext cx="2667000" cy="2667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800" b="1" dirty="0">
                  <a:solidFill>
                    <a:srgbClr val="FFFFFF"/>
                  </a:solidFill>
                </a:rPr>
                <a:t>注意力维度演进</a:t>
              </a:r>
              <a:endParaRPr lang="en-US" sz="1800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8507581" y="2798177"/>
            <a:ext cx="3760201" cy="292891"/>
            <a:chOff x="8507581" y="2344152"/>
            <a:chExt cx="3760201" cy="292891"/>
          </a:xfrm>
        </p:grpSpPr>
        <p:pic>
          <p:nvPicPr>
            <p:cNvPr id="34" name="Image 32" descr="preencoded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507581" y="2344152"/>
              <a:ext cx="133350" cy="133350"/>
            </a:xfrm>
            <a:prstGeom prst="rect">
              <a:avLst/>
            </a:prstGeom>
          </p:spPr>
        </p:pic>
        <p:sp>
          <p:nvSpPr>
            <p:cNvPr id="67" name="Text 22"/>
            <p:cNvSpPr/>
            <p:nvPr/>
          </p:nvSpPr>
          <p:spPr>
            <a:xfrm>
              <a:off x="8654533" y="2446543"/>
              <a:ext cx="3613249" cy="1905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 b="1" dirty="0" err="1">
                  <a:solidFill>
                    <a:srgbClr val="D1D5DB"/>
                  </a:solidFill>
                </a:rPr>
                <a:t>目标</a:t>
              </a:r>
              <a:r>
                <a:rPr lang="en-US" b="1" dirty="0">
                  <a:solidFill>
                    <a:srgbClr val="D1D5DB"/>
                  </a:solidFill>
                </a:rPr>
                <a:t>：</a:t>
              </a:r>
              <a:endParaRPr lang="en-US" b="1" dirty="0">
                <a:solidFill>
                  <a:srgbClr val="D1D5DB"/>
                </a:solidFill>
              </a:endParaRPr>
            </a:p>
            <a:p>
              <a:pPr marL="0" indent="0">
                <a:lnSpc>
                  <a:spcPct val="150000"/>
                </a:lnSpc>
                <a:buNone/>
              </a:pPr>
              <a:r>
                <a:rPr lang="en-US" dirty="0" err="1">
                  <a:solidFill>
                    <a:srgbClr val="D1D5DB"/>
                  </a:solidFill>
                </a:rPr>
                <a:t>从通道注意力升级至空间注意力</a:t>
              </a:r>
              <a:endParaRPr lang="en-US" dirty="0"/>
            </a:p>
          </p:txBody>
        </p:sp>
      </p:grpSp>
      <p:sp>
        <p:nvSpPr>
          <p:cNvPr id="68" name="Text 23"/>
          <p:cNvSpPr/>
          <p:nvPr/>
        </p:nvSpPr>
        <p:spPr>
          <a:xfrm>
            <a:off x="8584190" y="3670712"/>
            <a:ext cx="3022699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D1D5DB"/>
                </a:solidFill>
              </a:rPr>
              <a:t>TA-DMA：</a:t>
            </a:r>
            <a:endParaRPr lang="en-US" dirty="0">
              <a:solidFill>
                <a:srgbClr val="D1D5DB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 err="1">
                <a:solidFill>
                  <a:srgbClr val="D1D5DB"/>
                </a:solidFill>
              </a:rPr>
              <a:t>根据地形自适应分配</a:t>
            </a:r>
            <a:r>
              <a:rPr lang="en-US" sz="1600" dirty="0">
                <a:solidFill>
                  <a:srgbClr val="D1D5DB"/>
                </a:solidFill>
              </a:rPr>
              <a:t> </a:t>
            </a:r>
            <a:r>
              <a:rPr lang="en-US" sz="1600" dirty="0">
                <a:solidFill>
                  <a:srgbClr val="67E8F9"/>
                </a:solidFill>
              </a:rPr>
              <a:t>RGB</a:t>
            </a:r>
            <a:r>
              <a:rPr lang="en-US" sz="1600" dirty="0">
                <a:solidFill>
                  <a:srgbClr val="D1D5DB"/>
                </a:solidFill>
              </a:rPr>
              <a:t> 与 </a:t>
            </a:r>
            <a:r>
              <a:rPr lang="en-US" sz="1600" dirty="0">
                <a:solidFill>
                  <a:srgbClr val="6EE7B7"/>
                </a:solidFill>
              </a:rPr>
              <a:t>Geo-Mask</a:t>
            </a:r>
            <a:r>
              <a:rPr lang="en-US" sz="1600" dirty="0">
                <a:solidFill>
                  <a:srgbClr val="D1D5DB"/>
                </a:solidFill>
              </a:rPr>
              <a:t> 通道权重</a:t>
            </a:r>
            <a:endParaRPr lang="en-US" sz="1600" dirty="0">
              <a:solidFill>
                <a:srgbClr val="D1D5DB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8432976" y="4440063"/>
            <a:ext cx="3822799" cy="300068"/>
            <a:chOff x="8427571" y="3117582"/>
            <a:chExt cx="3822799" cy="300068"/>
          </a:xfrm>
        </p:grpSpPr>
        <p:pic>
          <p:nvPicPr>
            <p:cNvPr id="36" name="Image 34" descr="preencoded.pn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8427571" y="3117582"/>
              <a:ext cx="128905" cy="163830"/>
            </a:xfrm>
            <a:prstGeom prst="rect">
              <a:avLst/>
            </a:prstGeom>
          </p:spPr>
        </p:pic>
        <p:sp>
          <p:nvSpPr>
            <p:cNvPr id="69" name="Text 24"/>
            <p:cNvSpPr/>
            <p:nvPr/>
          </p:nvSpPr>
          <p:spPr>
            <a:xfrm>
              <a:off x="8608546" y="3227150"/>
              <a:ext cx="3641824" cy="1905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 b="1" dirty="0" err="1">
                  <a:solidFill>
                    <a:srgbClr val="D1D5DB"/>
                  </a:solidFill>
                </a:rPr>
                <a:t>演进方向</a:t>
              </a:r>
              <a:r>
                <a:rPr lang="en-US" b="1" dirty="0">
                  <a:solidFill>
                    <a:srgbClr val="D1D5DB"/>
                  </a:solidFill>
                </a:rPr>
                <a:t>：</a:t>
              </a:r>
              <a:endParaRPr lang="en-US" b="1" dirty="0">
                <a:solidFill>
                  <a:srgbClr val="D1D5DB"/>
                </a:solidFill>
              </a:endParaRPr>
            </a:p>
            <a:p>
              <a:pPr marL="0" indent="0">
                <a:lnSpc>
                  <a:spcPct val="150000"/>
                </a:lnSpc>
                <a:buNone/>
              </a:pPr>
              <a:r>
                <a:rPr lang="en-US" dirty="0" err="1">
                  <a:solidFill>
                    <a:srgbClr val="D1D5DB"/>
                  </a:solidFill>
                </a:rPr>
                <a:t>融入空间注意力</a:t>
              </a:r>
              <a:r>
                <a:rPr lang="en-US" dirty="0">
                  <a:solidFill>
                    <a:srgbClr val="D1D5DB"/>
                  </a:solidFill>
                </a:rPr>
                <a:t>/可变形卷积</a:t>
              </a:r>
              <a:endParaRPr lang="en-US" dirty="0"/>
            </a:p>
          </p:txBody>
        </p:sp>
      </p:grpSp>
      <p:pic>
        <p:nvPicPr>
          <p:cNvPr id="54" name="Image 2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197" y="5297388"/>
            <a:ext cx="3174950" cy="723900"/>
          </a:xfrm>
          <a:prstGeom prst="rect">
            <a:avLst/>
          </a:prstGeom>
        </p:spPr>
      </p:pic>
      <p:pic>
        <p:nvPicPr>
          <p:cNvPr id="41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5375" y="2971532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1117</Words>
  <Application>WPS 演示</Application>
  <PresentationFormat>宽屏</PresentationFormat>
  <Paragraphs>182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郭帅</cp:lastModifiedBy>
  <cp:revision>33</cp:revision>
  <dcterms:created xsi:type="dcterms:W3CDTF">2026-04-25T09:29:00Z</dcterms:created>
  <dcterms:modified xsi:type="dcterms:W3CDTF">2026-04-26T08:10:39Z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BB88F4A24F124627BDD624E2FAF8D896_13</vt:lpwstr>
  </property>
</Properties>
</file>