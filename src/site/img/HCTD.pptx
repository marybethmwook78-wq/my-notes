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4.svg" ContentType="image/svg+xml"/>
  <Override PartName="/ppt/media/image16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8.svg" ContentType="image/svg+xml"/>
  <Override PartName="/ppt/media/image3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4" r:id="rId10"/>
    <p:sldId id="289" r:id="rId11"/>
    <p:sldId id="290" r:id="rId12"/>
    <p:sldId id="288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000000"/>
          </p15:clr>
        </p15:guide>
        <p15:guide id="2" pos="2929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6" d="100"/>
          <a:sy n="86" d="100"/>
        </p:scale>
        <p:origin x="180" y="76"/>
      </p:cViewPr>
      <p:guideLst>
        <p:guide orient="horz" pos="2064"/>
        <p:guide pos="29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8" name="Google Shape;21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tags" Target="../tags/tag2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7.png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16.sv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0.svg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image" Target="../media/image35.png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image" Target="../media/image37.png"/><Relationship Id="rId5" Type="http://schemas.openxmlformats.org/officeDocument/2006/relationships/tags" Target="../tags/tag22.xml"/><Relationship Id="rId4" Type="http://schemas.openxmlformats.org/officeDocument/2006/relationships/image" Target="../media/image36.png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38.png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image" Target="../media/image45.png"/><Relationship Id="rId7" Type="http://schemas.openxmlformats.org/officeDocument/2006/relationships/image" Target="../media/image3.png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48.png"/><Relationship Id="rId10" Type="http://schemas.openxmlformats.org/officeDocument/2006/relationships/image" Target="../media/image47.png"/><Relationship Id="rId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0"/>
          <p:cNvSpPr/>
          <p:nvPr/>
        </p:nvSpPr>
        <p:spPr>
          <a:xfrm>
            <a:off x="158115" y="179705"/>
            <a:ext cx="11875770" cy="6446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848100" y="5011935"/>
            <a:ext cx="44958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81065" y="1229389"/>
            <a:ext cx="11601600" cy="2708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003E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HCTD：基于</a:t>
            </a:r>
            <a:r>
              <a:rPr lang="en-US" sz="4400" b="1" i="0" u="none" strike="noStrike" cap="none" dirty="0">
                <a:solidFill>
                  <a:srgbClr val="003E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CNN-Transformer </a:t>
            </a:r>
            <a:r>
              <a:rPr lang="en-US" sz="4400" b="1" i="0" u="none" strike="noStrike" cap="none" dirty="0" err="1">
                <a:solidFill>
                  <a:srgbClr val="003E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混合架构的</a:t>
            </a:r>
            <a:br>
              <a:rPr lang="en-US" sz="900" b="0" i="0" u="none" strike="noStrike" cap="none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</a:br>
            <a:r>
              <a:rPr lang="en-US" sz="4400" b="1" i="0" u="none" strike="noStrike" cap="none" dirty="0">
                <a:solidFill>
                  <a:srgbClr val="003E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en-US" sz="4400" b="1" i="0" u="none" strike="noStrike" cap="none" dirty="0" err="1">
                <a:solidFill>
                  <a:srgbClr val="003E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高精度无人机影像目标检测器</a:t>
            </a:r>
            <a:endParaRPr lang="en-US" sz="4400" b="1" i="0" u="none" strike="noStrike" cap="none" dirty="0">
              <a:solidFill>
                <a:srgbClr val="003E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25120" y="4434840"/>
            <a:ext cx="11421110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A CNN-transformer hybrid for precise object detection in UAV aerial imagery</a:t>
            </a:r>
            <a:endParaRPr lang="en-US" sz="2000" b="0" i="0" u="none" strike="noStrike" cap="none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848100" y="5497830"/>
            <a:ext cx="44958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汇报人：</a:t>
            </a:r>
            <a:r>
              <a:rPr lang="en-US" sz="15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郭帅</a:t>
            </a:r>
            <a:r>
              <a:rPr lang="en-US" sz="1500" b="0" i="0" u="none" strike="noStrike" cap="none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  |   导师：</a:t>
            </a:r>
            <a:r>
              <a:rPr lang="en-US" sz="15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周锦程</a:t>
            </a:r>
            <a:endParaRPr lang="en-US" sz="1500" b="0" i="0" u="none" strike="noStrike" cap="none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848100" y="5993010"/>
            <a:ext cx="4495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4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0"/>
          <p:cNvSpPr/>
          <p:nvPr/>
        </p:nvSpPr>
        <p:spPr>
          <a:xfrm>
            <a:off x="158115" y="179705"/>
            <a:ext cx="11875770" cy="6446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0" name="Image 3" descr="preencoded.png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62000" y="2324100"/>
            <a:ext cx="228600" cy="228600"/>
          </a:xfrm>
          <a:prstGeom prst="rect">
            <a:avLst/>
          </a:prstGeom>
        </p:spPr>
      </p:pic>
      <p:pic>
        <p:nvPicPr>
          <p:cNvPr id="71" name="Image 4" descr="preencoded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62000" y="2892028"/>
            <a:ext cx="190500" cy="190500"/>
          </a:xfrm>
          <a:prstGeom prst="rect">
            <a:avLst/>
          </a:prstGeom>
        </p:spPr>
      </p:pic>
      <p:pic>
        <p:nvPicPr>
          <p:cNvPr id="72" name="Image 5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62000" y="3615928"/>
            <a:ext cx="190500" cy="190500"/>
          </a:xfrm>
          <a:prstGeom prst="rect">
            <a:avLst/>
          </a:prstGeom>
        </p:spPr>
      </p:pic>
      <p:pic>
        <p:nvPicPr>
          <p:cNvPr id="73" name="Image 6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62000" y="4339828"/>
            <a:ext cx="190500" cy="190500"/>
          </a:xfrm>
          <a:prstGeom prst="rect">
            <a:avLst/>
          </a:prstGeom>
        </p:spPr>
      </p:pic>
      <p:pic>
        <p:nvPicPr>
          <p:cNvPr id="74" name="Image 7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62000" y="5063728"/>
            <a:ext cx="190500" cy="190500"/>
          </a:xfrm>
          <a:prstGeom prst="rect">
            <a:avLst/>
          </a:prstGeom>
        </p:spPr>
      </p:pic>
      <p:pic>
        <p:nvPicPr>
          <p:cNvPr id="75" name="Image 8" descr="preencoded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62000" y="5787628"/>
            <a:ext cx="219075" cy="190500"/>
          </a:xfrm>
          <a:prstGeom prst="rect">
            <a:avLst/>
          </a:prstGeom>
        </p:spPr>
      </p:pic>
      <p:pic>
        <p:nvPicPr>
          <p:cNvPr id="76" name="Image 9" descr="preencoded.png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24600" y="2324100"/>
            <a:ext cx="228600" cy="228600"/>
          </a:xfrm>
          <a:prstGeom prst="rect">
            <a:avLst/>
          </a:prstGeom>
        </p:spPr>
      </p:pic>
      <p:pic>
        <p:nvPicPr>
          <p:cNvPr id="77" name="Image 10" descr="preencoded.png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24600" y="2892028"/>
            <a:ext cx="190500" cy="190500"/>
          </a:xfrm>
          <a:prstGeom prst="rect">
            <a:avLst/>
          </a:prstGeom>
        </p:spPr>
      </p:pic>
      <p:pic>
        <p:nvPicPr>
          <p:cNvPr id="78" name="Image 11" descr="preencoded.png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24600" y="3615928"/>
            <a:ext cx="219075" cy="190500"/>
          </a:xfrm>
          <a:prstGeom prst="rect">
            <a:avLst/>
          </a:prstGeom>
        </p:spPr>
      </p:pic>
      <p:pic>
        <p:nvPicPr>
          <p:cNvPr id="79" name="Image 12" descr="preencoded.png"/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24600" y="4339828"/>
            <a:ext cx="190500" cy="190500"/>
          </a:xfrm>
          <a:prstGeom prst="rect">
            <a:avLst/>
          </a:prstGeom>
        </p:spPr>
      </p:pic>
      <p:pic>
        <p:nvPicPr>
          <p:cNvPr id="80" name="Image 13" descr="preencoded.png"/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24600" y="5063728"/>
            <a:ext cx="190500" cy="190500"/>
          </a:xfrm>
          <a:prstGeom prst="rect">
            <a:avLst/>
          </a:prstGeom>
        </p:spPr>
      </p:pic>
      <p:sp>
        <p:nvSpPr>
          <p:cNvPr id="81" name="Text 0"/>
          <p:cNvSpPr/>
          <p:nvPr/>
        </p:nvSpPr>
        <p:spPr>
          <a:xfrm>
            <a:off x="762000" y="762000"/>
            <a:ext cx="1066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ct val="100000"/>
              </a:lnSpc>
              <a:buSzTx/>
              <a:buNone/>
            </a:pPr>
            <a:r>
              <a:rPr lang="en-US" sz="3150" b="1">
                <a:solidFill>
                  <a:srgbClr val="003E6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研究背景与</a:t>
            </a:r>
            <a:r>
              <a:rPr lang="zh-CN" altLang="en-US" sz="3150" b="1">
                <a:solidFill>
                  <a:srgbClr val="003E6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动机</a:t>
            </a:r>
            <a:endParaRPr lang="zh-CN" altLang="en-US" sz="3150" b="1">
              <a:solidFill>
                <a:srgbClr val="003E6B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82" name="Text 1"/>
          <p:cNvSpPr/>
          <p:nvPr/>
        </p:nvSpPr>
        <p:spPr>
          <a:xfrm>
            <a:off x="762000" y="1638300"/>
            <a:ext cx="11430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ct val="160000"/>
              </a:lnSpc>
              <a:buSzTx/>
              <a:buNone/>
            </a:pPr>
            <a:r>
              <a:rPr lang="en-US" sz="15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无人机航空影像目标检测在安防监控、地理测绘等领域应用广泛，但面临诸多技术挑战，现有方法存在明显局限性。</a:t>
            </a:r>
            <a:endParaRPr lang="en-US" sz="15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83" name="Text 2"/>
          <p:cNvSpPr/>
          <p:nvPr/>
        </p:nvSpPr>
        <p:spPr>
          <a:xfrm>
            <a:off x="1104900" y="2286000"/>
            <a:ext cx="5105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pitchFamily="34" charset="-120"/>
              </a:rPr>
              <a:t>核心检测挑战</a:t>
            </a:r>
            <a:endParaRPr lang="en-US" sz="1800" b="1" dirty="0">
              <a:solidFill>
                <a:schemeClr val="bg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pitchFamily="34" charset="-120"/>
            </a:endParaRPr>
          </a:p>
        </p:txBody>
      </p:sp>
      <p:sp>
        <p:nvSpPr>
          <p:cNvPr id="84" name="Text 3"/>
          <p:cNvSpPr/>
          <p:nvPr/>
        </p:nvSpPr>
        <p:spPr>
          <a:xfrm>
            <a:off x="1104900" y="2819400"/>
            <a:ext cx="36004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ct val="108000"/>
              </a:lnSpc>
              <a:buSzTx/>
              <a:buNone/>
              <a:defRPr/>
            </a:pPr>
            <a:r>
              <a:rPr lang="en-US" sz="13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小目标像素稀缺</a:t>
            </a:r>
            <a:endParaRPr lang="en-US" sz="13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85" name="Text 4"/>
          <p:cNvSpPr/>
          <p:nvPr/>
        </p:nvSpPr>
        <p:spPr>
          <a:xfrm>
            <a:off x="1104900" y="3124200"/>
            <a:ext cx="69875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ts val="1500"/>
              </a:lnSpc>
              <a:buSzTx/>
              <a:buNone/>
            </a:pPr>
            <a:r>
              <a:rPr lang="en-US" sz="1050">
                <a:solidFill>
                  <a:srgbClr val="1A2B4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目标占据像素少，易受下采样导致特征丢失和背景噪声干扰。</a:t>
            </a:r>
            <a:endParaRPr lang="en-US" sz="1050">
              <a:solidFill>
                <a:srgbClr val="1A2B4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86" name="Text 5"/>
          <p:cNvSpPr/>
          <p:nvPr/>
        </p:nvSpPr>
        <p:spPr>
          <a:xfrm>
            <a:off x="1104900" y="3543300"/>
            <a:ext cx="30670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ct val="108000"/>
              </a:lnSpc>
              <a:buSzTx/>
              <a:buNone/>
              <a:defRPr/>
            </a:pPr>
            <a:r>
              <a:rPr lang="en-US" sz="13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复杂背景干扰</a:t>
            </a:r>
            <a:endParaRPr lang="en-US" sz="13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87" name="Text 6"/>
          <p:cNvSpPr/>
          <p:nvPr/>
        </p:nvSpPr>
        <p:spPr>
          <a:xfrm>
            <a:off x="1104900" y="3848100"/>
            <a:ext cx="58140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1A2B4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目标与背景相似度高，背景噪声大，难以有效区分。</a:t>
            </a:r>
            <a:endParaRPr lang="en-US" sz="1050" dirty="0">
              <a:solidFill>
                <a:srgbClr val="1A2B4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88" name="Text 7"/>
          <p:cNvSpPr/>
          <p:nvPr/>
        </p:nvSpPr>
        <p:spPr>
          <a:xfrm>
            <a:off x="1104900" y="4267200"/>
            <a:ext cx="45339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ct val="108000"/>
              </a:lnSpc>
              <a:buSzTx/>
              <a:buNone/>
              <a:defRPr/>
            </a:pPr>
            <a:r>
              <a:rPr lang="en-US" sz="13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多尺度变异</a:t>
            </a:r>
            <a:endParaRPr lang="en-US" sz="13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89" name="Text 8"/>
          <p:cNvSpPr/>
          <p:nvPr/>
        </p:nvSpPr>
        <p:spPr>
          <a:xfrm>
            <a:off x="1104900" y="4572000"/>
            <a:ext cx="86410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ts val="1500"/>
              </a:lnSpc>
              <a:buSzTx/>
              <a:buNone/>
            </a:pPr>
            <a:r>
              <a:rPr lang="en-US" sz="1050">
                <a:solidFill>
                  <a:srgbClr val="1A2B4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同一帧内目标大小差异巨大（如建筑物与行人），需同时处理不同尺度目标。</a:t>
            </a:r>
            <a:endParaRPr lang="en-US" sz="1050">
              <a:solidFill>
                <a:srgbClr val="1A2B4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90" name="Text 9"/>
          <p:cNvSpPr/>
          <p:nvPr/>
        </p:nvSpPr>
        <p:spPr>
          <a:xfrm>
            <a:off x="1104900" y="4991100"/>
            <a:ext cx="29337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任意方向与遮挡</a:t>
            </a:r>
            <a:endParaRPr lang="en-US" sz="1300" dirty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1104900" y="5295900"/>
            <a:ext cx="55473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ts val="1500"/>
              </a:lnSpc>
              <a:buSzTx/>
              <a:buNone/>
            </a:pPr>
            <a:r>
              <a:rPr lang="en-US" sz="1050">
                <a:solidFill>
                  <a:srgbClr val="1A2B4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目标旋转角度任意，易被遮挡，视觉形状变化大。</a:t>
            </a:r>
            <a:endParaRPr lang="en-US" sz="1050">
              <a:solidFill>
                <a:srgbClr val="1A2B4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1133475" y="5715000"/>
            <a:ext cx="3200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类内差异与类间相似</a:t>
            </a:r>
            <a:endParaRPr lang="en-US" sz="13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93" name="Text 12"/>
          <p:cNvSpPr/>
          <p:nvPr/>
        </p:nvSpPr>
        <p:spPr>
          <a:xfrm>
            <a:off x="1133475" y="6019800"/>
            <a:ext cx="61874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ts val="1500"/>
              </a:lnSpc>
              <a:buSzTx/>
              <a:buNone/>
            </a:pPr>
            <a:r>
              <a:rPr lang="en-US" sz="1050">
                <a:solidFill>
                  <a:srgbClr val="1A2B4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目标类别区分度低，但同一类目标因环境变化差异大。</a:t>
            </a:r>
            <a:endParaRPr lang="en-US" sz="1050">
              <a:solidFill>
                <a:srgbClr val="1A2B4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94" name="Text 13"/>
          <p:cNvSpPr/>
          <p:nvPr/>
        </p:nvSpPr>
        <p:spPr>
          <a:xfrm>
            <a:off x="6667500" y="2286000"/>
            <a:ext cx="5105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pitchFamily="34" charset="-120"/>
              </a:rPr>
              <a:t>现有方法局限性</a:t>
            </a:r>
            <a:endParaRPr lang="en-US" sz="1800" b="1" dirty="0">
              <a:solidFill>
                <a:schemeClr val="bg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pitchFamily="34" charset="-120"/>
            </a:endParaRPr>
          </a:p>
        </p:txBody>
      </p:sp>
      <p:sp>
        <p:nvSpPr>
          <p:cNvPr id="95" name="Text 14"/>
          <p:cNvSpPr/>
          <p:nvPr/>
        </p:nvSpPr>
        <p:spPr>
          <a:xfrm>
            <a:off x="6667500" y="2819400"/>
            <a:ext cx="3200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全局语义建模困难</a:t>
            </a:r>
            <a:endParaRPr lang="en-US" sz="1300" dirty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96" name="Text 15"/>
          <p:cNvSpPr/>
          <p:nvPr/>
        </p:nvSpPr>
        <p:spPr>
          <a:xfrm>
            <a:off x="6667500" y="3124200"/>
            <a:ext cx="5524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ts val="1500"/>
              </a:lnSpc>
              <a:buSzTx/>
              <a:buNone/>
            </a:pPr>
            <a:r>
              <a:rPr lang="en-US" sz="1050">
                <a:solidFill>
                  <a:srgbClr val="1A2B4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难以有效捕捉全局语义信息，影响对复杂场景的理解。</a:t>
            </a:r>
            <a:endParaRPr lang="en-US" sz="1050">
              <a:solidFill>
                <a:srgbClr val="1A2B4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97" name="Text 16"/>
          <p:cNvSpPr/>
          <p:nvPr/>
        </p:nvSpPr>
        <p:spPr>
          <a:xfrm>
            <a:off x="6696075" y="3543300"/>
            <a:ext cx="33337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特征下采样信息丢失</a:t>
            </a:r>
            <a:endParaRPr lang="en-US" sz="13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98" name="Text 17"/>
          <p:cNvSpPr/>
          <p:nvPr/>
        </p:nvSpPr>
        <p:spPr>
          <a:xfrm>
            <a:off x="6696075" y="3848100"/>
            <a:ext cx="5495925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ts val="1500"/>
              </a:lnSpc>
              <a:buSzTx/>
              <a:buNone/>
            </a:pPr>
            <a:r>
              <a:rPr lang="en-US" sz="1050">
                <a:solidFill>
                  <a:srgbClr val="1A2B4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特征金字塔构建过程中，小目标特征易在下采样时丢失。</a:t>
            </a:r>
            <a:endParaRPr lang="en-US" sz="1050">
              <a:solidFill>
                <a:srgbClr val="1A2B4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99" name="Text 18"/>
          <p:cNvSpPr/>
          <p:nvPr/>
        </p:nvSpPr>
        <p:spPr>
          <a:xfrm>
            <a:off x="6667500" y="4267200"/>
            <a:ext cx="30670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ts val="2100"/>
              </a:lnSpc>
              <a:buSzTx/>
              <a:buNone/>
            </a:pPr>
            <a:r>
              <a:rPr lang="en-US" sz="13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跨层特征交互冗余</a:t>
            </a:r>
            <a:endParaRPr lang="en-US" sz="13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100" name="Text 19"/>
          <p:cNvSpPr/>
          <p:nvPr/>
        </p:nvSpPr>
        <p:spPr>
          <a:xfrm>
            <a:off x="6667500" y="4572000"/>
            <a:ext cx="5524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ts val="1500"/>
              </a:lnSpc>
              <a:buSzTx/>
              <a:buNone/>
            </a:pPr>
            <a:r>
              <a:rPr lang="en-US" sz="1050">
                <a:solidFill>
                  <a:srgbClr val="1A2B4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跨层特征交互中存在冗余和不一致，影响检测精度。</a:t>
            </a:r>
            <a:endParaRPr lang="en-US" sz="1050">
              <a:solidFill>
                <a:srgbClr val="1A2B4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101" name="Text 20"/>
          <p:cNvSpPr/>
          <p:nvPr/>
        </p:nvSpPr>
        <p:spPr>
          <a:xfrm>
            <a:off x="6667500" y="4991100"/>
            <a:ext cx="36004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ts val="2100"/>
              </a:lnSpc>
              <a:buSzTx/>
              <a:buNone/>
            </a:pPr>
            <a:r>
              <a:rPr lang="en-US" sz="13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计算成本与实时性</a:t>
            </a:r>
            <a:endParaRPr lang="en-US" sz="13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118" name="Text 21"/>
          <p:cNvSpPr/>
          <p:nvPr/>
        </p:nvSpPr>
        <p:spPr>
          <a:xfrm>
            <a:off x="6667500" y="5295900"/>
            <a:ext cx="5524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ts val="1500"/>
              </a:lnSpc>
              <a:buSzTx/>
              <a:buNone/>
            </a:pPr>
            <a:r>
              <a:rPr lang="en-US" sz="1050">
                <a:solidFill>
                  <a:srgbClr val="1A2B4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计算成本高，难以在资源受限的无人机平台上实现实时应用。</a:t>
            </a:r>
            <a:endParaRPr lang="en-US" sz="1050">
              <a:solidFill>
                <a:srgbClr val="1A2B4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71500" y="661670"/>
            <a:ext cx="95250" cy="5810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4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0"/>
          <p:cNvSpPr/>
          <p:nvPr/>
        </p:nvSpPr>
        <p:spPr>
          <a:xfrm>
            <a:off x="158115" y="179705"/>
            <a:ext cx="11875770" cy="6446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762000" y="57150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E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HCTD 整体架构概览</a:t>
            </a:r>
            <a:endParaRPr lang="en-US" sz="3150" b="1" i="0" u="none" strike="noStrike" cap="none">
              <a:solidFill>
                <a:srgbClr val="003E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95250" cy="5810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6180455" y="1301750"/>
            <a:ext cx="5714365" cy="2267585"/>
          </a:xfrm>
          <a:prstGeom prst="roundRect">
            <a:avLst>
              <a:gd name="adj" fmla="val 77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0955" y="1432560"/>
            <a:ext cx="33401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6815455" y="1381760"/>
            <a:ext cx="4739005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模型整体架构组成</a:t>
            </a:r>
            <a:endParaRPr lang="en-US" sz="1800" b="1" i="0" u="none" strike="noStrike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6451600" y="1838325"/>
            <a:ext cx="5156835" cy="14687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  <a:defRPr/>
            </a:pPr>
            <a:r>
              <a:rPr lang="en-US" sz="1300" b="1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骨干网络 (Backbone):</a:t>
            </a:r>
            <a:r>
              <a:rPr lang="en-US" sz="13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提取输入图像的多尺度基础特征，为后续加工提供支撑。</a:t>
            </a:r>
            <a:endParaRPr lang="en-US" sz="1300" b="0" i="0" u="none" strike="noStrike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  <a:defRPr/>
            </a:pPr>
            <a:r>
              <a:rPr lang="en-US" sz="1300" b="1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混合编码器 (Hybrid Encoder):</a:t>
            </a:r>
            <a:r>
              <a:rPr lang="en-US" sz="13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核心组件，负责特征的提纯、深层融合与全局交互。</a:t>
            </a:r>
            <a:endParaRPr lang="en-US" sz="1300" b="0" i="0" u="none" strike="noStrike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  <a:defRPr/>
            </a:pPr>
            <a:r>
              <a:rPr lang="en-US" sz="1300" b="1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解码器 (Decoder):</a:t>
            </a:r>
            <a:r>
              <a:rPr lang="en-US" sz="13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通过迭代优化对象查询，精准生成最终的目标类别标签与边界框。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6181090" y="3683635"/>
            <a:ext cx="5714365" cy="2399665"/>
          </a:xfrm>
          <a:prstGeom prst="roundRect">
            <a:avLst>
              <a:gd name="adj" fmla="val 77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7310" y="3912235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6768465" y="381508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混合编码器三大核心创新模块</a:t>
            </a:r>
            <a:endParaRPr lang="en-US" sz="1800" b="1" i="0" u="none" strike="noStrike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6463665" y="4203700"/>
            <a:ext cx="5149850" cy="17094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  <a:defRPr/>
            </a:pPr>
            <a:r>
              <a:rPr lang="en-US" sz="1300" b="1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特征过滤模块 (FFM):</a:t>
            </a:r>
            <a:r>
              <a:rPr lang="en-US" sz="13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自适应增强显著特征，有效抑制背景噪声干扰。</a:t>
            </a:r>
            <a:endParaRPr lang="en-US" sz="1300" b="0" i="0" u="none" strike="noStrike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  <a:defRPr/>
            </a:pPr>
            <a:r>
              <a:rPr lang="en-US" sz="1300" b="1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卷积加性自注意力 (CASFI):</a:t>
            </a:r>
            <a:r>
              <a:rPr lang="en-US" sz="13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兼顾计算效率与感受野，高效实现全局上下文建模。</a:t>
            </a:r>
            <a:endParaRPr lang="en-US" sz="1300" b="0" i="0" u="none" strike="noStrike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  <a:defRPr/>
            </a:pPr>
            <a:r>
              <a:rPr lang="en-US" sz="1300" b="1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全局上下文流特征金字塔 (GC²FPN):</a:t>
            </a:r>
            <a:r>
              <a:rPr lang="en-US" sz="13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优化跨分辨率特征交互，显著改善语义一致性。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250190" y="1302385"/>
            <a:ext cx="5824220" cy="47879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endParaRPr lang="zh-CN" altLang="en-US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Google Shape;134;p16" title="ScreenShot_2026-05-02_210038_133.png"/>
          <p:cNvPicPr preferRelativeResize="0"/>
          <p:nvPr/>
        </p:nvPicPr>
        <p:blipFill rotWithShape="1">
          <a:blip r:embed="rId13"/>
          <a:srcRect l="5226" r="3733"/>
          <a:stretch>
            <a:fillRect/>
          </a:stretch>
        </p:blipFill>
        <p:spPr>
          <a:xfrm>
            <a:off x="571500" y="1631950"/>
            <a:ext cx="5344795" cy="33451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408305" y="4808855"/>
            <a:ext cx="5508625" cy="7632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3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端到端混合检测范式，</a:t>
            </a:r>
            <a:endParaRPr lang="en-US" sz="13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ctr">
              <a:lnSpc>
                <a:spcPct val="150000"/>
              </a:lnSpc>
            </a:pPr>
            <a:r>
              <a:rPr lang="en-US" sz="13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实现了从特征提取到最终预测的全流程优化，</a:t>
            </a:r>
            <a:endParaRPr lang="en-US" sz="13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ctr">
              <a:lnSpc>
                <a:spcPct val="150000"/>
              </a:lnSpc>
            </a:pPr>
            <a:r>
              <a:rPr lang="en-US" sz="13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旨在解决复杂场景下的检测精度与速度瓶颈</a:t>
            </a:r>
            <a:r>
              <a:rPr lang="zh-CN" altLang="en-US" sz="13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3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4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0"/>
          <p:cNvSpPr/>
          <p:nvPr/>
        </p:nvSpPr>
        <p:spPr>
          <a:xfrm>
            <a:off x="158115" y="179705"/>
            <a:ext cx="11875770" cy="6446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Google Shape;148;p17"/>
          <p:cNvSpPr txBox="1"/>
          <p:nvPr/>
        </p:nvSpPr>
        <p:spPr>
          <a:xfrm>
            <a:off x="762000" y="571500"/>
            <a:ext cx="11401425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b="1" i="0" u="none" strike="noStrike" cap="none">
                <a:solidFill>
                  <a:srgbClr val="003E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创新点一：</a:t>
            </a:r>
            <a:r>
              <a:rPr lang="en-US" sz="3150" b="1" i="0" u="none" strike="noStrike" cap="none">
                <a:solidFill>
                  <a:srgbClr val="003E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特征过滤模块 (FFM)</a:t>
            </a:r>
            <a:endParaRPr lang="en-US" sz="3150" b="1" i="0" u="none" strike="noStrike" cap="none">
              <a:solidFill>
                <a:srgbClr val="003E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71500" y="571500"/>
            <a:ext cx="95250" cy="5810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16"/>
          <p:cNvSpPr/>
          <p:nvPr/>
        </p:nvSpPr>
        <p:spPr>
          <a:xfrm>
            <a:off x="358775" y="1557655"/>
            <a:ext cx="5511800" cy="4613275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lnSpc>
                <a:spcPct val="150000"/>
              </a:lnSpc>
              <a:defRPr/>
            </a:pPr>
          </a:p>
        </p:txBody>
      </p:sp>
      <p:sp>
        <p:nvSpPr>
          <p:cNvPr id="2" name="AutoShape 18"/>
          <p:cNvSpPr/>
          <p:nvPr/>
        </p:nvSpPr>
        <p:spPr>
          <a:xfrm>
            <a:off x="466090" y="5053330"/>
            <a:ext cx="5088255" cy="8058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300" b="0" i="1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图1. 特征过滤模块 (FFM) 架构示意图</a:t>
            </a:r>
            <a:br>
              <a:rPr lang="en-US" sz="1300" b="0" i="1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1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展示了CSA模块内部的特征交互与注意力生成过程</a:t>
            </a:r>
            <a:endParaRPr lang="en-US" sz="1100"/>
          </a:p>
        </p:txBody>
      </p:sp>
      <p:pic>
        <p:nvPicPr>
          <p:cNvPr id="3" name="Google Shape;150;p17" title="ScreenShot_2026-05-02_210302_702.png"/>
          <p:cNvPicPr preferRelativeResize="0"/>
          <p:nvPr/>
        </p:nvPicPr>
        <p:blipFill>
          <a:blip r:embed="rId1"/>
          <a:srcRect l="2659" t="4178" r="3039" b="1719"/>
          <a:stretch>
            <a:fillRect/>
          </a:stretch>
        </p:blipFill>
        <p:spPr>
          <a:xfrm>
            <a:off x="426720" y="2082800"/>
            <a:ext cx="5132070" cy="2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AutoShape 5"/>
          <p:cNvSpPr/>
          <p:nvPr/>
        </p:nvSpPr>
        <p:spPr>
          <a:xfrm>
            <a:off x="6259195" y="1555115"/>
            <a:ext cx="5554345" cy="160909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lnSpc>
                <a:spcPct val="150000"/>
              </a:lnSpc>
              <a:defRPr/>
            </a:pPr>
          </a:p>
        </p:txBody>
      </p:sp>
      <p:sp>
        <p:nvSpPr>
          <p:cNvPr id="14" name="AutoShape 7"/>
          <p:cNvSpPr/>
          <p:nvPr/>
        </p:nvSpPr>
        <p:spPr>
          <a:xfrm>
            <a:off x="6449695" y="1663065"/>
            <a:ext cx="5156835" cy="11709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 模块目的</a:t>
            </a:r>
            <a:endParaRPr lang="en-US" sz="1100"/>
          </a:p>
          <a:p>
            <a:pPr indent="0" algn="l">
              <a:lnSpc>
                <a:spcPct val="150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增强目标区域的感知显著性，有效抑制背景噪声干扰，减少特征通道间的信息冗余，为后续任务提供高质量的特征表达。</a:t>
            </a:r>
            <a:endParaRPr lang="en-US" sz="13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8"/>
          <p:cNvSpPr/>
          <p:nvPr/>
        </p:nvSpPr>
        <p:spPr>
          <a:xfrm>
            <a:off x="6259195" y="3536315"/>
            <a:ext cx="5554345" cy="2634615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lnSpc>
                <a:spcPct val="150000"/>
              </a:lnSpc>
              <a:defRPr/>
            </a:pPr>
          </a:p>
        </p:txBody>
      </p:sp>
      <p:sp>
        <p:nvSpPr>
          <p:cNvPr id="20" name="AutoShape 9"/>
          <p:cNvSpPr/>
          <p:nvPr/>
        </p:nvSpPr>
        <p:spPr>
          <a:xfrm>
            <a:off x="6449695" y="3761740"/>
            <a:ext cx="5156835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🧩  核心原理：上下文选择注意力 (CSA) 模块</a:t>
            </a:r>
            <a:endParaRPr lang="en-US" sz="1100"/>
          </a:p>
        </p:txBody>
      </p:sp>
      <p:sp>
        <p:nvSpPr>
          <p:cNvPr id="21" name="AutoShape 11"/>
          <p:cNvSpPr/>
          <p:nvPr>
            <p:custDataLst>
              <p:tags r:id="rId2"/>
            </p:custDataLst>
          </p:nvPr>
        </p:nvSpPr>
        <p:spPr>
          <a:xfrm>
            <a:off x="6513195" y="4253865"/>
            <a:ext cx="1567815" cy="13163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3182C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双全局池化</a:t>
            </a:r>
            <a:endParaRPr lang="en-US" sz="1100"/>
          </a:p>
          <a:p>
            <a:pPr indent="0" algn="ctr">
              <a:lnSpc>
                <a:spcPct val="15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结合平均池化（语义）与最大池化（显著），全方位捕获全局特征信息。</a:t>
            </a:r>
            <a:endParaRPr lang="en-US" sz="11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13"/>
          <p:cNvSpPr/>
          <p:nvPr>
            <p:custDataLst>
              <p:tags r:id="rId3"/>
            </p:custDataLst>
          </p:nvPr>
        </p:nvSpPr>
        <p:spPr>
          <a:xfrm>
            <a:off x="8227695" y="4253865"/>
            <a:ext cx="1454150" cy="13163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3182C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双路卷积融合</a:t>
            </a:r>
            <a:endParaRPr lang="en-US" sz="1100"/>
          </a:p>
          <a:p>
            <a:pPr indent="0" algn="ctr">
              <a:lnSpc>
                <a:spcPct val="15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条形卷积捕获方向特征，标准卷积捕获全向信息，低成本获取丰富上下文。</a:t>
            </a:r>
            <a:endParaRPr lang="en-US" sz="11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15"/>
          <p:cNvSpPr/>
          <p:nvPr>
            <p:custDataLst>
              <p:tags r:id="rId4"/>
            </p:custDataLst>
          </p:nvPr>
        </p:nvSpPr>
        <p:spPr>
          <a:xfrm>
            <a:off x="9942195" y="4253865"/>
            <a:ext cx="1454150" cy="13163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3182C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动态权重生成</a:t>
            </a:r>
            <a:endParaRPr lang="en-US" sz="1100"/>
          </a:p>
          <a:p>
            <a:pPr indent="0" algn="ctr">
              <a:lnSpc>
                <a:spcPct val="15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生成像素级注意力权重图，对特征加权以突出目标并抑制背景噪声。</a:t>
            </a:r>
            <a:endParaRPr lang="en-US" sz="11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4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0"/>
          <p:cNvSpPr/>
          <p:nvPr/>
        </p:nvSpPr>
        <p:spPr>
          <a:xfrm>
            <a:off x="158115" y="179705"/>
            <a:ext cx="11875770" cy="6446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Google Shape;166;p18"/>
          <p:cNvSpPr txBox="1"/>
          <p:nvPr/>
        </p:nvSpPr>
        <p:spPr>
          <a:xfrm>
            <a:off x="762000" y="571500"/>
            <a:ext cx="11401425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b="1" i="0" u="none" strike="noStrike" cap="none">
                <a:solidFill>
                  <a:srgbClr val="003E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创新点二：</a:t>
            </a:r>
            <a:r>
              <a:rPr lang="en-US" sz="3150" b="1" i="0" u="none" strike="noStrike" cap="none">
                <a:solidFill>
                  <a:srgbClr val="003E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卷积加</a:t>
            </a:r>
            <a:r>
              <a:rPr lang="zh-CN" altLang="en-US" sz="3150" b="1" i="0" u="none" strike="noStrike" cap="none">
                <a:solidFill>
                  <a:srgbClr val="003E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</a:t>
            </a:r>
            <a:r>
              <a:rPr lang="en-US" sz="3150" b="1" i="0" u="none" strike="noStrike" cap="none">
                <a:solidFill>
                  <a:srgbClr val="003E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自注意力机制 (CASFI)</a:t>
            </a:r>
            <a:endParaRPr lang="en-US" sz="3150" b="1" i="0" u="none" strike="noStrike" cap="none">
              <a:solidFill>
                <a:srgbClr val="003E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71500" y="571500"/>
            <a:ext cx="95250" cy="5810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AutoShape 11"/>
          <p:cNvSpPr/>
          <p:nvPr/>
        </p:nvSpPr>
        <p:spPr>
          <a:xfrm>
            <a:off x="528955" y="1905000"/>
            <a:ext cx="4258945" cy="453517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图片 13" descr="ScreenShot_2026-05-03_151455_3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2137410"/>
            <a:ext cx="3983355" cy="388112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5624195" y="1905000"/>
            <a:ext cx="5389880" cy="4535170"/>
          </a:xfrm>
          <a:prstGeom prst="roundRect">
            <a:avLst>
              <a:gd name="adj" fmla="val 413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7695" y="3841115"/>
            <a:ext cx="337820" cy="34544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132195" y="3790950"/>
            <a:ext cx="4697095" cy="21634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核心原理 (Token Mixer)</a:t>
            </a:r>
            <a:endParaRPr lang="en-US" sz="1600"/>
          </a:p>
          <a:p>
            <a:pPr indent="0" algn="l">
              <a:lnSpc>
                <a:spcPct val="150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替代点积：</a:t>
            </a:r>
            <a:r>
              <a:rPr lang="en-US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将传统相似度计算</a:t>
            </a:r>
            <a:r>
              <a:rPr lang="en-US" b="0" i="0" u="none" strike="noStrike">
                <a:solidFill>
                  <a:srgbClr val="47556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Q×Kᵀ</a:t>
            </a:r>
            <a:r>
              <a:rPr lang="en-US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替换为加性融合</a:t>
            </a:r>
            <a:r>
              <a:rPr lang="en-US" b="0" i="0" u="none" strike="noStrike">
                <a:solidFill>
                  <a:srgbClr val="47556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Φ(Q)+Φ(K)</a:t>
            </a:r>
            <a:r>
              <a:rPr lang="en-US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，降低计算量。</a:t>
            </a:r>
            <a:endParaRPr lang="en-US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双重注意力：</a:t>
            </a:r>
            <a:r>
              <a:rPr lang="en-US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算子</a:t>
            </a:r>
            <a:r>
              <a:rPr lang="en-US" b="0" i="0" u="none" strike="noStrike">
                <a:solidFill>
                  <a:srgbClr val="47556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Φ(·)</a:t>
            </a:r>
            <a:r>
              <a:rPr lang="en-US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融合了空间与通道注意力，有效捕获多维特征依赖。</a:t>
            </a:r>
            <a:endParaRPr lang="en-US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隐式编码：</a:t>
            </a:r>
            <a:r>
              <a:rPr lang="en-US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利用卷积归纳偏置隐式建模空间关系，省略显式位置编码，进一步提升效率。</a:t>
            </a:r>
            <a:endParaRPr lang="en-US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7695" y="2313305"/>
            <a:ext cx="337820" cy="345440"/>
          </a:xfrm>
          <a:prstGeom prst="rect">
            <a:avLst/>
          </a:prstGeom>
        </p:spPr>
      </p:pic>
      <p:sp>
        <p:nvSpPr>
          <p:cNvPr id="4" name="AutoShape 7"/>
          <p:cNvSpPr/>
          <p:nvPr/>
        </p:nvSpPr>
        <p:spPr>
          <a:xfrm>
            <a:off x="6132195" y="2210435"/>
            <a:ext cx="4696460" cy="1153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研究目的</a:t>
            </a:r>
            <a:endParaRPr lang="en-US" sz="1100"/>
          </a:p>
          <a:p>
            <a:pPr indent="0" algn="l">
              <a:lnSpc>
                <a:spcPct val="150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以高效的方式替代计算昂贵的标准自注意力机制，在大幅降低计算复杂度的同时，实现特征间高效、全局的信息交互。</a:t>
            </a:r>
            <a:endParaRPr lang="en-US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4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0"/>
          <p:cNvSpPr/>
          <p:nvPr/>
        </p:nvSpPr>
        <p:spPr>
          <a:xfrm>
            <a:off x="158115" y="179705"/>
            <a:ext cx="11875770" cy="6446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Google Shape;185;p19"/>
          <p:cNvSpPr txBox="1"/>
          <p:nvPr/>
        </p:nvSpPr>
        <p:spPr>
          <a:xfrm>
            <a:off x="762000" y="571500"/>
            <a:ext cx="11401425" cy="96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b="1" i="0" u="none" strike="noStrike" cap="none">
                <a:solidFill>
                  <a:srgbClr val="003E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创新点三：全局上下文流特征金字塔 (</a:t>
            </a:r>
            <a:r>
              <a:rPr lang="en-US" altLang="zh-CN" sz="3150" b="1" i="0" u="none" strike="noStrike" cap="none">
                <a:solidFill>
                  <a:srgbClr val="003E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GC2FPN)</a:t>
            </a:r>
            <a:endParaRPr lang="en-US" altLang="zh-CN" sz="3150" b="1" i="0" u="none" strike="noStrike" cap="none">
              <a:solidFill>
                <a:srgbClr val="003E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3150" b="1" i="0" u="none" strike="noStrike" cap="none">
              <a:solidFill>
                <a:srgbClr val="003E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571500" y="571500"/>
            <a:ext cx="95250" cy="5810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503670" y="1750060"/>
            <a:ext cx="5207000" cy="4501515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lnSpc>
                <a:spcPct val="150000"/>
              </a:lnSpc>
              <a:defRPr/>
            </a:pPr>
          </a:p>
        </p:txBody>
      </p:sp>
      <p:grpSp>
        <p:nvGrpSpPr>
          <p:cNvPr id="5" name="组合 4"/>
          <p:cNvGrpSpPr/>
          <p:nvPr/>
        </p:nvGrpSpPr>
        <p:grpSpPr>
          <a:xfrm>
            <a:off x="6757670" y="3194685"/>
            <a:ext cx="4635500" cy="1442720"/>
            <a:chOff x="10939" y="5440"/>
            <a:chExt cx="7300" cy="2272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939" y="5460"/>
              <a:ext cx="480" cy="480"/>
            </a:xfrm>
            <a:prstGeom prst="rect">
              <a:avLst/>
            </a:prstGeom>
          </p:spPr>
        </p:pic>
        <p:sp>
          <p:nvSpPr>
            <p:cNvPr id="10" name="AutoShape 10"/>
            <p:cNvSpPr/>
            <p:nvPr/>
          </p:nvSpPr>
          <p:spPr>
            <a:xfrm>
              <a:off x="11639" y="5440"/>
              <a:ext cx="6600" cy="227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50000"/>
                </a:lnSpc>
                <a:defRPr/>
              </a:pPr>
              <a:r>
                <a:rPr lang="en-US" sz="1600" b="1" i="0" u="none" strike="noStrike">
                  <a:solidFill>
                    <a:srgbClr val="2D374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模块一：全局上下文信息融合 (GCIF)</a:t>
              </a:r>
              <a:endParaRPr lang="en-US" sz="1100"/>
            </a:p>
            <a:p>
              <a:pPr indent="0" algn="l">
                <a:lnSpc>
                  <a:spcPct val="150000"/>
                </a:lnSpc>
                <a:spcBef>
                  <a:spcPts val="800"/>
                </a:spcBef>
              </a:pPr>
              <a:r>
                <a:rPr lang="en-US" sz="1300" b="0" i="0" u="none" strike="noStrike">
                  <a:solidFill>
                    <a:srgbClr val="4A556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摒弃传统的简单相加融合方式，引入</a:t>
              </a:r>
              <a:r>
                <a:rPr lang="en-US" sz="1300" b="1" i="0" u="none" strike="noStrike">
                  <a:solidFill>
                    <a:srgbClr val="DD6B2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CSA模块</a:t>
              </a:r>
              <a:r>
                <a:rPr lang="en-US" sz="1300" b="0" i="0" u="none" strike="noStrike">
                  <a:solidFill>
                    <a:srgbClr val="4A556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对底层的强定位特征进行“语义过滤”，仅保留与高层语义相关的信息；再与经过上采样的高层强语义特征进行融合，实现重要信息的精准、选择性传递。</a:t>
              </a:r>
              <a:endPara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11" name="AutoShape 11"/>
          <p:cNvSpPr/>
          <p:nvPr/>
        </p:nvSpPr>
        <p:spPr>
          <a:xfrm>
            <a:off x="382905" y="2252980"/>
            <a:ext cx="5915660" cy="3390265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图片 2" descr="ScreenShot_2026-05-03_150243_532"/>
          <p:cNvPicPr>
            <a:picLocks noChangeAspect="1"/>
          </p:cNvPicPr>
          <p:nvPr/>
        </p:nvPicPr>
        <p:blipFill>
          <a:blip r:embed="rId3"/>
          <a:srcRect l="2002" t="10682" r="1709" b="2806"/>
          <a:stretch>
            <a:fillRect/>
          </a:stretch>
        </p:blipFill>
        <p:spPr>
          <a:xfrm>
            <a:off x="409575" y="2668905"/>
            <a:ext cx="5838190" cy="2228215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6757670" y="4745990"/>
            <a:ext cx="4635500" cy="1400810"/>
            <a:chOff x="10939" y="7712"/>
            <a:chExt cx="7300" cy="2206"/>
          </a:xfrm>
        </p:grpSpPr>
        <p:pic>
          <p:nvPicPr>
            <p:cNvPr id="4" name="Picture 1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939" y="7920"/>
              <a:ext cx="480" cy="480"/>
            </a:xfrm>
            <a:prstGeom prst="rect">
              <a:avLst/>
            </a:prstGeom>
          </p:spPr>
        </p:pic>
        <p:sp>
          <p:nvSpPr>
            <p:cNvPr id="12" name="AutoShape 15"/>
            <p:cNvSpPr/>
            <p:nvPr/>
          </p:nvSpPr>
          <p:spPr>
            <a:xfrm>
              <a:off x="11639" y="7712"/>
              <a:ext cx="6600" cy="2207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50000"/>
                </a:lnSpc>
                <a:defRPr/>
              </a:pPr>
              <a:r>
                <a:rPr lang="en-US" sz="1600" b="1" i="0" u="none" strike="noStrike">
                  <a:solidFill>
                    <a:srgbClr val="2D374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模块二：移位特征增强 (SFE)</a:t>
              </a:r>
              <a:endParaRPr lang="en-US" sz="1100"/>
            </a:p>
            <a:p>
              <a:pPr indent="0" algn="l">
                <a:lnSpc>
                  <a:spcPct val="150000"/>
                </a:lnSpc>
                <a:spcBef>
                  <a:spcPts val="800"/>
                </a:spcBef>
              </a:pPr>
              <a:r>
                <a:rPr lang="en-US" sz="1300" b="0" i="0" u="none" strike="noStrike">
                  <a:solidFill>
                    <a:srgbClr val="4A556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在特征融合后，集成</a:t>
              </a:r>
              <a:r>
                <a:rPr lang="en-US" sz="13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Shift-Conv (移位卷积)</a:t>
              </a:r>
              <a:r>
                <a:rPr lang="en-US" sz="1300" b="0" i="0" u="none" strike="noStrike">
                  <a:solidFill>
                    <a:srgbClr val="4A556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机制，通过灵活的空间采样策略，在不增加计算成本的前提下，有效扩大感受野并增强对局部与全局空间特征的感知能力。</a:t>
              </a:r>
              <a:endPara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757670" y="1918335"/>
            <a:ext cx="4762500" cy="1016000"/>
            <a:chOff x="10939" y="3723"/>
            <a:chExt cx="7500" cy="1600"/>
          </a:xfrm>
        </p:grpSpPr>
        <p:pic>
          <p:nvPicPr>
            <p:cNvPr id="16" name="Picture 6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939" y="3723"/>
              <a:ext cx="480" cy="480"/>
            </a:xfrm>
            <a:prstGeom prst="rect">
              <a:avLst/>
            </a:prstGeom>
          </p:spPr>
        </p:pic>
        <p:sp>
          <p:nvSpPr>
            <p:cNvPr id="17" name="AutoShape 7"/>
            <p:cNvSpPr/>
            <p:nvPr/>
          </p:nvSpPr>
          <p:spPr>
            <a:xfrm>
              <a:off x="11639" y="3723"/>
              <a:ext cx="6800" cy="1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50000"/>
                </a:lnSpc>
                <a:defRPr/>
              </a:pPr>
              <a:r>
                <a:rPr lang="en-US" sz="1600" b="1" i="0" u="none" strike="noStrike">
                  <a:solidFill>
                    <a:srgbClr val="2D374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研究目的</a:t>
              </a:r>
              <a:endParaRPr lang="en-US" sz="1100"/>
            </a:p>
            <a:p>
              <a:pPr indent="0" algn="l">
                <a:lnSpc>
                  <a:spcPct val="150000"/>
                </a:lnSpc>
                <a:spcBef>
                  <a:spcPts val="600"/>
                </a:spcBef>
              </a:pPr>
              <a:r>
                <a:rPr lang="en-US" sz="1300" b="0" i="0" u="none" strike="noStrike">
                  <a:solidFill>
                    <a:srgbClr val="4A556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解决传统特征金字塔网络(FPN)中不同层级特征融合时的语义不一致问题，有效增强网络对多尺度、尤其是小目标物体的特征提取与表达能力。</a:t>
              </a:r>
              <a:endPara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4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0"/>
          <p:cNvSpPr/>
          <p:nvPr/>
        </p:nvSpPr>
        <p:spPr>
          <a:xfrm>
            <a:off x="158115" y="179705"/>
            <a:ext cx="11875770" cy="6446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Google Shape;200;p21"/>
          <p:cNvSpPr/>
          <p:nvPr/>
        </p:nvSpPr>
        <p:spPr>
          <a:xfrm>
            <a:off x="571500" y="2254894"/>
            <a:ext cx="11049000" cy="33578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201" name="Google Shape;201;p21"/>
          <p:cNvGraphicFramePr/>
          <p:nvPr/>
        </p:nvGraphicFramePr>
        <p:xfrm>
          <a:off x="571500" y="2254894"/>
          <a:ext cx="11029950" cy="33579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37950"/>
                <a:gridCol w="1598275"/>
                <a:gridCol w="1624750"/>
                <a:gridCol w="2113500"/>
                <a:gridCol w="1492600"/>
                <a:gridCol w="1862875"/>
              </a:tblGrid>
              <a:tr h="559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FFFFFF"/>
                          </a:solidFill>
                          <a:sym typeface="Noto Sans SC" panose="020B0200000000000000" charset="-122"/>
                        </a:rPr>
                        <a:t>模型</a:t>
                      </a:r>
                      <a:endParaRPr lang="en-US" sz="1350" b="1" i="0" u="none" strike="noStrike" cap="non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FFFFFF"/>
                          </a:solidFill>
                          <a:sym typeface="Noto Sans SC" panose="020B0200000000000000" charset="-122"/>
                        </a:rPr>
                        <a:t>主干网络</a:t>
                      </a:r>
                      <a:endParaRPr lang="en-US" sz="1350" b="1" i="0" u="none" strike="noStrike" cap="non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FFFFFF"/>
                          </a:solidFill>
                          <a:sym typeface="Noto Sans SC" panose="020B0200000000000000" charset="-122"/>
                        </a:rPr>
                        <a:t>参数量 (M)</a:t>
                      </a:r>
                      <a:endParaRPr lang="en-US" sz="1350" b="1" i="0" u="none" strike="noStrike" cap="non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FFFFFF"/>
                          </a:solidFill>
                          <a:sym typeface="Noto Sans SC" panose="020B0200000000000000" charset="-122"/>
                        </a:rPr>
                        <a:t>FPS (推理速度)</a:t>
                      </a:r>
                      <a:endParaRPr lang="en-US" sz="1350" b="1" i="0" u="none" strike="noStrike" cap="non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FFFFFF"/>
                          </a:solidFill>
                          <a:sym typeface="Noto Sans SC" panose="020B0200000000000000" charset="-122"/>
                        </a:rPr>
                        <a:t>AP50 (%)</a:t>
                      </a:r>
                      <a:endParaRPr lang="en-US" sz="1350" b="1" i="0" u="none" strike="noStrike" cap="non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FFFFFF"/>
                          </a:solidFill>
                          <a:sym typeface="Noto Sans SC" panose="020B0200000000000000" charset="-122"/>
                        </a:rPr>
                        <a:t>APS (小目标)</a:t>
                      </a:r>
                      <a:endParaRPr lang="en-US" sz="1350" b="1" i="0" u="none" strike="noStrike" cap="non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</a:tr>
              <a:tr h="559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YOLOv8-M</a:t>
                      </a:r>
                      <a:endParaRPr lang="en-US" sz="127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-</a:t>
                      </a:r>
                      <a:endParaRPr lang="en-US" sz="127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25.8</a:t>
                      </a:r>
                      <a:endParaRPr lang="en-US" sz="127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85</a:t>
                      </a:r>
                      <a:endParaRPr lang="en-US" sz="127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34.7</a:t>
                      </a:r>
                      <a:endParaRPr lang="en-US" sz="127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9.8</a:t>
                      </a:r>
                      <a:endParaRPr lang="en-US" sz="127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</a:tr>
              <a:tr h="559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RT-DETR-R18</a:t>
                      </a:r>
                      <a:endParaRPr lang="en-US" sz="127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ResNet-18</a:t>
                      </a:r>
                      <a:endParaRPr lang="en-US" sz="127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20.1</a:t>
                      </a:r>
                      <a:endParaRPr lang="en-US" sz="127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136</a:t>
                      </a:r>
                      <a:endParaRPr lang="en-US" sz="127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36.5</a:t>
                      </a:r>
                      <a:endParaRPr lang="en-US" sz="127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11.6</a:t>
                      </a:r>
                      <a:endParaRPr lang="en-US" sz="127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</a:tr>
              <a:tr h="559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RT-DETR-R50</a:t>
                      </a:r>
                      <a:endParaRPr lang="en-US" sz="127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ResNet-50</a:t>
                      </a:r>
                      <a:endParaRPr lang="en-US" sz="127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42.3</a:t>
                      </a:r>
                      <a:endParaRPr lang="en-US" sz="127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98</a:t>
                      </a:r>
                      <a:endParaRPr lang="en-US" sz="127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38.5</a:t>
                      </a:r>
                      <a:endParaRPr lang="en-US" sz="127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12.7</a:t>
                      </a:r>
                      <a:endParaRPr lang="en-US" sz="127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</a:tr>
              <a:tr h="559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HCTD-R18 (Ours)</a:t>
                      </a:r>
                      <a:endParaRPr lang="en-US" sz="127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ResNet-18</a:t>
                      </a:r>
                      <a:endParaRPr lang="en-US" sz="127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23.6</a:t>
                      </a:r>
                      <a:endParaRPr lang="en-US" sz="127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120</a:t>
                      </a:r>
                      <a:endParaRPr lang="en-US" sz="127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38.2</a:t>
                      </a:r>
                      <a:endParaRPr lang="en-US" sz="127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13.9</a:t>
                      </a:r>
                      <a:endParaRPr lang="en-US" sz="127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</a:tr>
              <a:tr h="559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HCTD-R50 (Ours)</a:t>
                      </a:r>
                      <a:endParaRPr lang="en-US" sz="127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ResNet-50</a:t>
                      </a:r>
                      <a:endParaRPr lang="en-US" sz="127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45.4</a:t>
                      </a:r>
                      <a:endParaRPr lang="en-US" sz="127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94</a:t>
                      </a:r>
                      <a:endParaRPr lang="en-US" sz="127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43.7</a:t>
                      </a:r>
                      <a:endParaRPr lang="en-US" sz="127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 dirty="0">
                          <a:solidFill>
                            <a:srgbClr val="334155"/>
                          </a:solidFill>
                          <a:sym typeface="Noto Sans SC" panose="020B0200000000000000" charset="-122"/>
                        </a:rPr>
                        <a:t>14.7</a:t>
                      </a:r>
                      <a:endParaRPr lang="en-US" sz="1275" b="1" i="0" u="none" strike="noStrike" cap="none" dirty="0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/>
                </a:tc>
              </a:tr>
            </a:tbl>
          </a:graphicData>
        </a:graphic>
      </p:graphicFrame>
      <p:sp>
        <p:nvSpPr>
          <p:cNvPr id="202" name="Google Shape;202;p21"/>
          <p:cNvSpPr/>
          <p:nvPr/>
        </p:nvSpPr>
        <p:spPr>
          <a:xfrm>
            <a:off x="581025" y="3429148"/>
            <a:ext cx="233794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2918966" y="3429148"/>
            <a:ext cx="159826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4517231" y="3429148"/>
            <a:ext cx="162475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6141987" y="3429148"/>
            <a:ext cx="21135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8255496" y="3429148"/>
            <a:ext cx="149259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9748093" y="3429148"/>
            <a:ext cx="18628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81025" y="3964334"/>
            <a:ext cx="233794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2918966" y="3964334"/>
            <a:ext cx="159826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4517231" y="3964334"/>
            <a:ext cx="162475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6141987" y="3964334"/>
            <a:ext cx="21135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8255496" y="3964334"/>
            <a:ext cx="149259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9748093" y="3964334"/>
            <a:ext cx="18628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81025" y="4504283"/>
            <a:ext cx="233794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2918966" y="4504283"/>
            <a:ext cx="159826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4517231" y="4504283"/>
            <a:ext cx="162475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6141987" y="4504283"/>
            <a:ext cx="21135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8255496" y="4504283"/>
            <a:ext cx="149259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9748093" y="4504283"/>
            <a:ext cx="18628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581025" y="5048994"/>
            <a:ext cx="233794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2918966" y="5048994"/>
            <a:ext cx="159826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517231" y="5048994"/>
            <a:ext cx="162475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6141987" y="5048994"/>
            <a:ext cx="21135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8255496" y="5048994"/>
            <a:ext cx="149259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9748093" y="5048994"/>
            <a:ext cx="18628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581025" y="5593705"/>
            <a:ext cx="233794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2918966" y="5593705"/>
            <a:ext cx="159826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4517231" y="5593705"/>
            <a:ext cx="162475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6141987" y="5593705"/>
            <a:ext cx="21135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8255496" y="5593705"/>
            <a:ext cx="149259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9748093" y="5593705"/>
            <a:ext cx="18628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762000" y="57150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E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与主流检测器的性能对比 (VisDrone2019)</a:t>
            </a:r>
            <a:endParaRPr lang="en-US" sz="3150" b="1" i="0" u="none" strike="noStrike" cap="none">
              <a:solidFill>
                <a:srgbClr val="003E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71500" y="571500"/>
            <a:ext cx="95250" cy="5810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圆角矩形 0"/>
          <p:cNvSpPr/>
          <p:nvPr/>
        </p:nvSpPr>
        <p:spPr>
          <a:xfrm>
            <a:off x="158115" y="179705"/>
            <a:ext cx="11875770" cy="6446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Google Shape;206;p20"/>
          <p:cNvSpPr txBox="1"/>
          <p:nvPr/>
        </p:nvSpPr>
        <p:spPr>
          <a:xfrm>
            <a:off x="762000" y="57150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A2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TIDE 细粒度误差分析</a:t>
            </a:r>
            <a:endParaRPr lang="en-US" sz="3150" b="1" i="0" u="none" strike="noStrike" cap="none">
              <a:solidFill>
                <a:srgbClr val="1A2B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02920" y="1857375"/>
            <a:ext cx="5334000" cy="3810000"/>
            <a:chOff x="900" y="3431"/>
            <a:chExt cx="8400" cy="6000"/>
          </a:xfrm>
        </p:grpSpPr>
        <p:pic>
          <p:nvPicPr>
            <p:cNvPr id="203" name="Google Shape;203;p20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00" y="3431"/>
              <a:ext cx="8400" cy="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图片 8" descr="ScreenShot_2026-05-03_142416_742"/>
            <p:cNvPicPr>
              <a:picLocks noChangeAspect="1"/>
            </p:cNvPicPr>
            <p:nvPr/>
          </p:nvPicPr>
          <p:blipFill>
            <a:blip r:embed="rId3"/>
            <a:srcRect l="3357"/>
            <a:stretch>
              <a:fillRect/>
            </a:stretch>
          </p:blipFill>
          <p:spPr>
            <a:xfrm>
              <a:off x="1045" y="4424"/>
              <a:ext cx="4318" cy="4008"/>
            </a:xfrm>
            <a:prstGeom prst="rect">
              <a:avLst/>
            </a:prstGeom>
          </p:spPr>
        </p:pic>
        <p:pic>
          <p:nvPicPr>
            <p:cNvPr id="2" name="图片 1" descr="ScreenShot_2026-05-03_142432_483"/>
            <p:cNvPicPr>
              <a:picLocks noChangeAspect="1"/>
            </p:cNvPicPr>
            <p:nvPr/>
          </p:nvPicPr>
          <p:blipFill>
            <a:blip r:embed="rId4"/>
            <a:srcRect r="1760"/>
            <a:stretch>
              <a:fillRect/>
            </a:stretch>
          </p:blipFill>
          <p:spPr>
            <a:xfrm>
              <a:off x="5284" y="4410"/>
              <a:ext cx="3908" cy="4008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/>
        </p:nvGrpSpPr>
        <p:grpSpPr>
          <a:xfrm>
            <a:off x="6096000" y="2329815"/>
            <a:ext cx="5671860" cy="3239138"/>
            <a:chOff x="10313" y="3949"/>
            <a:chExt cx="8400" cy="4788"/>
          </a:xfrm>
        </p:grpSpPr>
        <p:sp>
          <p:nvSpPr>
            <p:cNvPr id="208" name="Google Shape;208;p20"/>
            <p:cNvSpPr txBox="1"/>
            <p:nvPr>
              <p:custDataLst>
                <p:tags r:id="rId5"/>
              </p:custDataLst>
            </p:nvPr>
          </p:nvSpPr>
          <p:spPr>
            <a:xfrm>
              <a:off x="10838" y="3949"/>
              <a:ext cx="7875" cy="1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sz="1500" b="1">
                  <a:solidFill>
                    <a:srgbClr val="2D374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分类错误 </a:t>
              </a:r>
              <a:r>
                <a:rPr lang="zh-CN" altLang="en-US" sz="1500" b="1">
                  <a:solidFill>
                    <a:srgbClr val="2D374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最低</a:t>
              </a:r>
              <a:r>
                <a:rPr lang="en-US" sz="1500" b="1" i="0" u="none" strike="noStrike" cap="none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:</a:t>
              </a:r>
              <a:r>
                <a:rPr lang="en-US" sz="1500" b="0" i="0" u="none" strike="noStrike" cap="none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</a:t>
              </a:r>
              <a:r>
                <a:rPr lang="en-US" altLang="zh-CN" sz="1500" b="0" i="0" u="none" strike="noStrike" cap="none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Cls Error </a:t>
              </a:r>
              <a:r>
                <a:rPr lang="zh-CN" altLang="en-US" sz="1500" b="0" i="0" u="none" strike="noStrike" cap="none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仅</a:t>
              </a:r>
              <a:r>
                <a:rPr lang="en-US" sz="1500" b="1">
                  <a:solidFill>
                    <a:srgbClr val="2B6CB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13.91%</a:t>
              </a:r>
              <a:r>
                <a:rPr lang="zh-CN" altLang="en-US" sz="1500" b="1">
                  <a:solidFill>
                    <a:srgbClr val="2B6CB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，</a:t>
              </a:r>
              <a:r>
                <a:rPr lang="en-US" sz="1500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特征提取与类别判别能力强，识别准确。</a:t>
              </a:r>
              <a:endParaRPr lang="en-US" sz="1500">
                <a:solidFill>
                  <a:srgbClr val="1A2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500" b="0" i="0" u="none" strike="noStrike" cap="none">
                <a:solidFill>
                  <a:srgbClr val="1A2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pic>
          <p:nvPicPr>
            <p:cNvPr id="212" name="Google Shape;212;p20" descr="image.png"/>
            <p:cNvPicPr preferRelativeResize="0"/>
            <p:nvPr>
              <p:custDataLst>
                <p:tags r:id="rId6"/>
              </p:custDataLst>
            </p:nvPr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10313" y="4146"/>
              <a:ext cx="300" cy="3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Google Shape;209;p20"/>
            <p:cNvSpPr txBox="1"/>
            <p:nvPr>
              <p:custDataLst>
                <p:tags r:id="rId8"/>
              </p:custDataLst>
            </p:nvPr>
          </p:nvSpPr>
          <p:spPr>
            <a:xfrm>
              <a:off x="10838" y="5214"/>
              <a:ext cx="7875" cy="5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定位精度极高:</a:t>
              </a:r>
              <a:r>
                <a:rPr lang="en-US" sz="1500" b="0" i="0" u="none" strike="noStrike" cap="none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Loc Error 低至 3.91%，边界框回归精准。</a:t>
              </a:r>
              <a:endParaRPr lang="en-US" sz="1500" b="0" i="0" u="none" strike="noStrike" cap="none">
                <a:solidFill>
                  <a:srgbClr val="1A2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4" name="Google Shape;210;p20"/>
            <p:cNvSpPr txBox="1"/>
            <p:nvPr>
              <p:custDataLst>
                <p:tags r:id="rId9"/>
              </p:custDataLst>
            </p:nvPr>
          </p:nvSpPr>
          <p:spPr>
            <a:xfrm>
              <a:off x="10838" y="5919"/>
              <a:ext cx="7875" cy="1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sz="1500" b="1" i="0" u="none" strike="noStrike" cap="none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背景抗干扰强:</a:t>
              </a:r>
              <a:r>
                <a:rPr lang="en-US" sz="1500" b="0" i="0" u="none" strike="noStrike" cap="none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Bkgd False Positive 仅 1.91%。</a:t>
              </a:r>
              <a:r>
                <a:rPr lang="en-US" sz="1500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模型对复杂背景具有强抗干扰能力，极少误判。</a:t>
              </a:r>
              <a:endParaRPr lang="en-US" sz="1500" b="0" i="0" u="none" strike="noStrike" cap="none">
                <a:solidFill>
                  <a:srgbClr val="1A2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5" name="Google Shape;211;p20"/>
            <p:cNvSpPr txBox="1"/>
            <p:nvPr>
              <p:custDataLst>
                <p:tags r:id="rId10"/>
              </p:custDataLst>
            </p:nvPr>
          </p:nvSpPr>
          <p:spPr>
            <a:xfrm>
              <a:off x="10838" y="7100"/>
              <a:ext cx="7875" cy="1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漏检率显著降低:</a:t>
              </a:r>
              <a:r>
                <a:rPr lang="en-US" sz="1500" b="0" i="0" u="none" strike="noStrike" cap="none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Missed Error </a:t>
              </a:r>
              <a:r>
                <a:rPr lang="zh-CN" altLang="en-US" sz="1500" b="0" i="0" u="none" strike="noStrike" cap="none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仅</a:t>
              </a:r>
              <a:r>
                <a:rPr lang="en-US" sz="1500" b="1">
                  <a:solidFill>
                    <a:srgbClr val="2B6CB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12.09%</a:t>
              </a:r>
              <a:r>
                <a:rPr lang="zh-CN" altLang="en-US" sz="1500">
                  <a:solidFill>
                    <a:srgbClr val="71809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，</a:t>
              </a:r>
              <a:r>
                <a:rPr lang="en-US" sz="1500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优于绝大多数对比模型，目标召回率更高。</a:t>
              </a:r>
              <a:endParaRPr lang="en-US" sz="1500"/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500" b="0" i="0" u="none" strike="noStrike" cap="none">
                <a:solidFill>
                  <a:srgbClr val="1A2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pic>
          <p:nvPicPr>
            <p:cNvPr id="6" name="Google Shape;213;p20" descr="image.png"/>
            <p:cNvPicPr preferRelativeResize="0"/>
            <p:nvPr>
              <p:custDataLst>
                <p:tags r:id="rId11"/>
              </p:custDataLst>
            </p:nvPr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10313" y="5452"/>
              <a:ext cx="300" cy="3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214;p20" descr="image.png"/>
            <p:cNvPicPr preferRelativeResize="0"/>
            <p:nvPr>
              <p:custDataLst>
                <p:tags r:id="rId12"/>
              </p:custDataLst>
            </p:nvPr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10313" y="6143"/>
              <a:ext cx="300" cy="3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215;p20" descr="image.png"/>
            <p:cNvPicPr preferRelativeResize="0"/>
            <p:nvPr>
              <p:custDataLst>
                <p:tags r:id="rId13"/>
              </p:custDataLst>
            </p:nvPr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10313" y="7338"/>
              <a:ext cx="300" cy="31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圆角矩形 0"/>
          <p:cNvSpPr/>
          <p:nvPr/>
        </p:nvSpPr>
        <p:spPr>
          <a:xfrm>
            <a:off x="158115" y="179705"/>
            <a:ext cx="11875770" cy="6446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Google Shape;225;p21"/>
          <p:cNvSpPr txBox="1"/>
          <p:nvPr/>
        </p:nvSpPr>
        <p:spPr>
          <a:xfrm>
            <a:off x="762000" y="57150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A2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消融实验与性能增益验证</a:t>
            </a:r>
            <a:endParaRPr lang="en-US" sz="3150" b="1" i="0" u="none" strike="noStrike" cap="none">
              <a:solidFill>
                <a:srgbClr val="1A2B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571500" y="4777105"/>
            <a:ext cx="11049000" cy="1757045"/>
            <a:chOff x="900" y="7017"/>
            <a:chExt cx="17400" cy="3540"/>
          </a:xfrm>
        </p:grpSpPr>
        <p:pic>
          <p:nvPicPr>
            <p:cNvPr id="221" name="Google Shape;221;p21" descr="image.png"/>
            <p:cNvPicPr preferRelativeResize="0"/>
            <p:nvPr>
              <p:custDataLst>
                <p:tags r:id="rId3"/>
              </p:custDataLst>
            </p:nvPr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900" y="7017"/>
              <a:ext cx="5500" cy="35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1" descr="image.png"/>
            <p:cNvPicPr preferRelativeResize="0"/>
            <p:nvPr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6850" y="7017"/>
              <a:ext cx="5500" cy="35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1" descr="image.png"/>
            <p:cNvPicPr preferRelativeResize="0"/>
            <p:nvPr>
              <p:custDataLst>
                <p:tags r:id="rId7"/>
              </p:custDataLst>
            </p:nvPr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12800" y="7017"/>
              <a:ext cx="5500" cy="35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21"/>
            <p:cNvSpPr txBox="1"/>
            <p:nvPr>
              <p:custDataLst>
                <p:tags r:id="rId8"/>
              </p:custDataLst>
            </p:nvPr>
          </p:nvSpPr>
          <p:spPr>
            <a:xfrm>
              <a:off x="1350" y="7542"/>
              <a:ext cx="4830" cy="5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4A90E2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FFM 模块</a:t>
              </a:r>
              <a:endParaRPr lang="en-US" sz="1800" b="1" i="0" u="none" strike="noStrike" cap="non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29" name="Google Shape;229;p21"/>
            <p:cNvSpPr txBox="1"/>
            <p:nvPr>
              <p:custDataLst>
                <p:tags r:id="rId9"/>
              </p:custDataLst>
            </p:nvPr>
          </p:nvSpPr>
          <p:spPr>
            <a:xfrm>
              <a:off x="1350" y="8367"/>
              <a:ext cx="4830" cy="1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单独引入使 AP50 提升 </a:t>
              </a:r>
              <a:r>
                <a:rPr lang="en-US" sz="1500" b="1" i="0" u="none" strike="noStrike" cap="none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4.42%</a:t>
              </a:r>
              <a:r>
                <a:rPr lang="en-US" sz="1500" b="0" i="0" u="none" strike="noStrike" cap="none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。有效抑制特征冗余，增强显著区域感知。</a:t>
              </a:r>
              <a:endParaRPr lang="en-US" sz="1500" b="0" i="0" u="none" strike="noStrike" cap="none">
                <a:solidFill>
                  <a:srgbClr val="1A2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30" name="Google Shape;230;p21"/>
            <p:cNvSpPr txBox="1"/>
            <p:nvPr>
              <p:custDataLst>
                <p:tags r:id="rId10"/>
              </p:custDataLst>
            </p:nvPr>
          </p:nvSpPr>
          <p:spPr>
            <a:xfrm>
              <a:off x="7300" y="7542"/>
              <a:ext cx="4830" cy="5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4A90E2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GC2FPN 模块</a:t>
              </a:r>
              <a:endParaRPr lang="en-US" sz="1800" b="1" i="0" u="none" strike="noStrike" cap="non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31" name="Google Shape;231;p21"/>
            <p:cNvSpPr txBox="1"/>
            <p:nvPr>
              <p:custDataLst>
                <p:tags r:id="rId11"/>
              </p:custDataLst>
            </p:nvPr>
          </p:nvSpPr>
          <p:spPr>
            <a:xfrm>
              <a:off x="7300" y="8367"/>
              <a:ext cx="4849" cy="1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使 APS </a:t>
              </a:r>
              <a:r>
                <a:rPr lang="en-US" sz="1500" b="0" i="0" u="none" strike="noStrike" cap="none" dirty="0" err="1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提升至</a:t>
              </a:r>
              <a:r>
                <a:rPr lang="en-US" sz="1500" b="0" i="0" u="none" strike="noStrike" cap="none" dirty="0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</a:t>
              </a:r>
              <a:r>
                <a:rPr lang="en-US" sz="1500" b="1" i="0" u="none" strike="noStrike" cap="none" dirty="0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13.9%</a:t>
              </a:r>
              <a:r>
                <a:rPr lang="en-US" sz="1500" b="0" i="0" u="none" strike="noStrike" cap="none" dirty="0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  <a:r>
                <a:rPr lang="en-US" sz="1500" b="0" i="0" u="none" strike="noStrike" cap="none" dirty="0" err="1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证实跨层语义融合对小目标检测的决定性作用</a:t>
              </a:r>
              <a:r>
                <a:rPr lang="en-US" sz="1500" b="0" i="0" u="none" strike="noStrike" cap="none" dirty="0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  <a:endParaRPr lang="en-US" sz="1500" b="0" i="0" u="none" strike="noStrike" cap="none" dirty="0">
                <a:solidFill>
                  <a:srgbClr val="1A2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32" name="Google Shape;232;p21"/>
            <p:cNvSpPr txBox="1"/>
            <p:nvPr>
              <p:custDataLst>
                <p:tags r:id="rId12"/>
              </p:custDataLst>
            </p:nvPr>
          </p:nvSpPr>
          <p:spPr>
            <a:xfrm>
              <a:off x="13250" y="7542"/>
              <a:ext cx="4830" cy="5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4A90E2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CASFI 优化</a:t>
              </a:r>
              <a:endParaRPr lang="en-US" sz="1800" b="1" i="0" u="none" strike="noStrike" cap="non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33" name="Google Shape;233;p21"/>
            <p:cNvSpPr txBox="1"/>
            <p:nvPr>
              <p:custDataLst>
                <p:tags r:id="rId13"/>
              </p:custDataLst>
            </p:nvPr>
          </p:nvSpPr>
          <p:spPr>
            <a:xfrm>
              <a:off x="13250" y="8367"/>
              <a:ext cx="4944" cy="1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 err="1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将推理速度从</a:t>
              </a:r>
              <a:r>
                <a:rPr lang="en-US" sz="1500" b="0" i="0" u="none" strike="noStrike" cap="none" dirty="0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98 </a:t>
              </a:r>
              <a:r>
                <a:rPr lang="en-US" sz="1500" b="0" i="0" u="none" strike="noStrike" cap="none" dirty="0" err="1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提升至</a:t>
              </a:r>
              <a:r>
                <a:rPr lang="en-US" sz="1500" b="0" i="0" u="none" strike="noStrike" cap="none" dirty="0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</a:t>
              </a:r>
              <a:r>
                <a:rPr lang="en-US" sz="1500" b="1" i="0" u="none" strike="noStrike" cap="none" dirty="0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112 </a:t>
              </a:r>
              <a:r>
                <a:rPr lang="en-US" sz="1500" b="1" i="0" u="none" strike="noStrike" cap="none" dirty="0" err="1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FPS</a:t>
              </a:r>
              <a:r>
                <a:rPr lang="en-US" sz="1500" b="0" i="0" u="none" strike="noStrike" cap="none" dirty="0" err="1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。大幅优化计算成本，确保实时性能</a:t>
              </a:r>
              <a:r>
                <a:rPr lang="en-US" sz="1500" b="0" i="0" u="none" strike="noStrike" cap="none" dirty="0">
                  <a:solidFill>
                    <a:srgbClr val="1A2B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  <a:endParaRPr lang="en-US" sz="1500" b="0" i="0" u="none" strike="noStrike" cap="none" dirty="0">
                <a:solidFill>
                  <a:srgbClr val="1A2B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pic>
        <p:nvPicPr>
          <p:cNvPr id="22" name="图片 21" descr="ScreenShot_2026-05-03_141716_46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39240" y="1152525"/>
            <a:ext cx="8900795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4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0"/>
          <p:cNvSpPr/>
          <p:nvPr/>
        </p:nvSpPr>
        <p:spPr>
          <a:xfrm>
            <a:off x="158115" y="179705"/>
            <a:ext cx="11875770" cy="6446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62000" y="1752600"/>
            <a:ext cx="22860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24600" y="1752600"/>
            <a:ext cx="257175" cy="2286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762000" y="762000"/>
            <a:ext cx="1066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ct val="100000"/>
              </a:lnSpc>
              <a:buSzTx/>
              <a:buNone/>
            </a:pPr>
            <a:r>
              <a:rPr lang="en-US" sz="3150" b="1">
                <a:solidFill>
                  <a:srgbClr val="003E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结论与未来研究展望</a:t>
            </a:r>
            <a:endParaRPr lang="en-US" sz="3150" b="1">
              <a:solidFill>
                <a:srgbClr val="003E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Text 1"/>
          <p:cNvSpPr/>
          <p:nvPr/>
        </p:nvSpPr>
        <p:spPr>
          <a:xfrm>
            <a:off x="1104900" y="1714500"/>
            <a:ext cx="5105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研究结论</a:t>
            </a:r>
            <a:endParaRPr lang="en-US"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8" name="Text 10"/>
          <p:cNvSpPr/>
          <p:nvPr/>
        </p:nvSpPr>
        <p:spPr>
          <a:xfrm>
            <a:off x="6696075" y="1714500"/>
            <a:ext cx="5105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未来研究展望</a:t>
            </a:r>
            <a:endParaRPr lang="en-US"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6610" y="2247900"/>
            <a:ext cx="10930255" cy="4029710"/>
            <a:chOff x="1200" y="3540"/>
            <a:chExt cx="18000" cy="5400"/>
          </a:xfrm>
        </p:grpSpPr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200" y="3708"/>
              <a:ext cx="240" cy="192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200" y="5130"/>
              <a:ext cx="263" cy="229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200" y="6572"/>
              <a:ext cx="225" cy="225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200" y="8006"/>
              <a:ext cx="297" cy="238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9960" y="3654"/>
              <a:ext cx="300" cy="300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9960" y="4794"/>
              <a:ext cx="300" cy="300"/>
            </a:xfrm>
            <a:prstGeom prst="rect">
              <a:avLst/>
            </a:prstGeom>
          </p:spPr>
        </p:pic>
        <p:pic>
          <p:nvPicPr>
            <p:cNvPr id="13" name="Image 11" descr="preencoded.png"/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9960" y="5934"/>
              <a:ext cx="300" cy="300"/>
            </a:xfrm>
            <a:prstGeom prst="rect">
              <a:avLst/>
            </a:prstGeom>
          </p:spPr>
        </p:pic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0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9960" y="7074"/>
              <a:ext cx="300" cy="300"/>
            </a:xfrm>
            <a:prstGeom prst="rect">
              <a:avLst/>
            </a:prstGeom>
          </p:spPr>
        </p:pic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11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9960" y="8214"/>
              <a:ext cx="300" cy="300"/>
            </a:xfrm>
            <a:prstGeom prst="rect">
              <a:avLst/>
            </a:prstGeom>
          </p:spPr>
        </p:pic>
        <p:sp>
          <p:nvSpPr>
            <p:cNvPr id="20" name="Text 2"/>
            <p:cNvSpPr/>
            <p:nvPr/>
          </p:nvSpPr>
          <p:spPr>
            <a:xfrm>
              <a:off x="1680" y="3540"/>
              <a:ext cx="7560" cy="4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algn="l">
                <a:lnSpc>
                  <a:spcPct val="150000"/>
                </a:lnSpc>
                <a:buSzTx/>
                <a:buNone/>
                <a:defRPr/>
              </a:pPr>
              <a:r>
                <a:rPr lang="en-US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</a:rPr>
                <a:t>端到端混合检测器</a:t>
              </a:r>
              <a:endParaRPr lang="en-US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endParaRPr>
            </a:p>
          </p:txBody>
        </p:sp>
        <p:sp>
          <p:nvSpPr>
            <p:cNvPr id="21" name="Text 3"/>
            <p:cNvSpPr/>
            <p:nvPr/>
          </p:nvSpPr>
          <p:spPr>
            <a:xfrm>
              <a:off x="1680" y="4020"/>
              <a:ext cx="7560" cy="96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algn="l">
                <a:lnSpc>
                  <a:spcPct val="150000"/>
                </a:lnSpc>
                <a:buSzTx/>
                <a:buNone/>
              </a:pPr>
              <a:r>
                <a:rPr lang="en-US">
                  <a:solidFill>
                    <a:srgbClr val="1A2B4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HCTD是专为无人机影像设计的CNN-Transformer混合检测器，通过FFM、CASFI和GC2FPN三大模块有效处理复杂场景挑战。</a:t>
              </a:r>
              <a:endParaRPr lang="en-US">
                <a:solidFill>
                  <a:srgbClr val="1A2B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 4"/>
            <p:cNvSpPr/>
            <p:nvPr/>
          </p:nvSpPr>
          <p:spPr>
            <a:xfrm>
              <a:off x="1703" y="4980"/>
              <a:ext cx="7537" cy="4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algn="l">
                <a:lnSpc>
                  <a:spcPct val="150000"/>
                </a:lnSpc>
                <a:buSzTx/>
                <a:buNone/>
                <a:defRPr/>
              </a:pPr>
              <a:r>
                <a:rPr lang="en-US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超越现有SOTA方法</a:t>
              </a:r>
              <a:endParaRPr lang="en-US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 5"/>
            <p:cNvSpPr/>
            <p:nvPr/>
          </p:nvSpPr>
          <p:spPr>
            <a:xfrm>
              <a:off x="1703" y="5537"/>
              <a:ext cx="7537" cy="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algn="l">
                <a:lnSpc>
                  <a:spcPct val="150000"/>
                </a:lnSpc>
                <a:buSzTx/>
                <a:buNone/>
              </a:pPr>
              <a:r>
                <a:rPr lang="en-US">
                  <a:solidFill>
                    <a:srgbClr val="1A2B4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在VisDrone2019数据集上，HCTD在检测精度（AP50: 43.7%）和实时性能（94 FPS）方面均表现优异。</a:t>
              </a:r>
              <a:endParaRPr lang="en-US">
                <a:solidFill>
                  <a:srgbClr val="1A2B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 6"/>
            <p:cNvSpPr/>
            <p:nvPr/>
          </p:nvSpPr>
          <p:spPr>
            <a:xfrm>
              <a:off x="1665" y="6420"/>
              <a:ext cx="7575" cy="4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algn="l">
                <a:lnSpc>
                  <a:spcPct val="150000"/>
                </a:lnSpc>
                <a:buSzTx/>
                <a:buNone/>
                <a:defRPr/>
              </a:pPr>
              <a:r>
                <a:rPr lang="en-US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</a:rPr>
                <a:t>细粒度错误分析优势</a:t>
              </a:r>
              <a:endParaRPr lang="en-US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endParaRPr>
            </a:p>
          </p:txBody>
        </p:sp>
        <p:sp>
          <p:nvSpPr>
            <p:cNvPr id="25" name="Text 7"/>
            <p:cNvSpPr/>
            <p:nvPr/>
          </p:nvSpPr>
          <p:spPr>
            <a:xfrm>
              <a:off x="1665" y="6922"/>
              <a:ext cx="7575" cy="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>
                  <a:solidFill>
                    <a:srgbClr val="1A2B4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TIDE分析显示HCTD在分类错误（13.91%）、定位错误（3.91%）和漏检率（12.09%）方面具有显著优势。</a:t>
              </a:r>
              <a:endParaRPr lang="en-US">
                <a:solidFill>
                  <a:srgbClr val="1A2B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Text 8"/>
            <p:cNvSpPr/>
            <p:nvPr/>
          </p:nvSpPr>
          <p:spPr>
            <a:xfrm>
              <a:off x="1737" y="7860"/>
              <a:ext cx="7503" cy="4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</a:rPr>
                <a:t>模块有效性验证</a:t>
              </a:r>
              <a:endParaRPr lang="en-US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endParaRPr>
            </a:p>
          </p:txBody>
        </p:sp>
        <p:sp>
          <p:nvSpPr>
            <p:cNvPr id="27" name="Text 9"/>
            <p:cNvSpPr/>
            <p:nvPr/>
          </p:nvSpPr>
          <p:spPr>
            <a:xfrm>
              <a:off x="1737" y="8340"/>
              <a:ext cx="7503" cy="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algn="l">
                <a:lnSpc>
                  <a:spcPct val="150000"/>
                </a:lnSpc>
                <a:buSzTx/>
                <a:buNone/>
              </a:pPr>
              <a:r>
                <a:rPr lang="en-US">
                  <a:solidFill>
                    <a:srgbClr val="1A2B4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消融研究证实了FFM、CASFI和GC2FPN模块在提升小目标检测性能和全局上下文建模方面的有效性。</a:t>
              </a:r>
              <a:endParaRPr lang="en-US">
                <a:solidFill>
                  <a:srgbClr val="1A2B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Text 11"/>
            <p:cNvSpPr/>
            <p:nvPr/>
          </p:nvSpPr>
          <p:spPr>
            <a:xfrm>
              <a:off x="10440" y="3540"/>
              <a:ext cx="6930" cy="4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algn="l">
                <a:lnSpc>
                  <a:spcPct val="150000"/>
                </a:lnSpc>
                <a:buSzTx/>
                <a:buNone/>
                <a:defRPr/>
              </a:pPr>
              <a:r>
                <a:rPr lang="en-US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</a:rPr>
                <a:t>极端小目标与密集目标处理</a:t>
              </a:r>
              <a:endParaRPr lang="en-US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endParaRPr>
            </a:p>
          </p:txBody>
        </p:sp>
        <p:sp>
          <p:nvSpPr>
            <p:cNvPr id="30" name="Text 12"/>
            <p:cNvSpPr/>
            <p:nvPr/>
          </p:nvSpPr>
          <p:spPr>
            <a:xfrm>
              <a:off x="10440" y="4141"/>
              <a:ext cx="8760" cy="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algn="l">
                <a:lnSpc>
                  <a:spcPct val="150000"/>
                </a:lnSpc>
                <a:buSzTx/>
                <a:buNone/>
              </a:pPr>
              <a:r>
                <a:rPr lang="en-US">
                  <a:solidFill>
                    <a:srgbClr val="1A2B44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</a:rPr>
                <a:t>借鉴两阶段检测框架思想，改进对极端小目标和密集重叠目标的检测能力。</a:t>
              </a:r>
              <a:endParaRPr lang="en-US">
                <a:solidFill>
                  <a:srgbClr val="1A2B4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endParaRPr>
            </a:p>
          </p:txBody>
        </p:sp>
        <p:sp>
          <p:nvSpPr>
            <p:cNvPr id="31" name="Text 13"/>
            <p:cNvSpPr/>
            <p:nvPr/>
          </p:nvSpPr>
          <p:spPr>
            <a:xfrm>
              <a:off x="10440" y="4680"/>
              <a:ext cx="6930" cy="4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algn="l">
                <a:lnSpc>
                  <a:spcPct val="150000"/>
                </a:lnSpc>
                <a:buSzTx/>
                <a:buNone/>
                <a:defRPr/>
              </a:pPr>
              <a:r>
                <a:rPr lang="en-US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</a:rPr>
                <a:t>模型轻量化与部署优化</a:t>
              </a:r>
              <a:endParaRPr lang="en-US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endParaRPr>
            </a:p>
          </p:txBody>
        </p:sp>
        <p:sp>
          <p:nvSpPr>
            <p:cNvPr id="32" name="Text 14"/>
            <p:cNvSpPr/>
            <p:nvPr/>
          </p:nvSpPr>
          <p:spPr>
            <a:xfrm>
              <a:off x="10440" y="5303"/>
              <a:ext cx="8760" cy="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algn="l">
                <a:lnSpc>
                  <a:spcPct val="150000"/>
                </a:lnSpc>
                <a:buSzTx/>
                <a:buNone/>
              </a:pPr>
              <a:r>
                <a:rPr lang="en-US">
                  <a:solidFill>
                    <a:srgbClr val="1A2B44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</a:rPr>
                <a:t>避免网络结构过度复杂，确保模型能在资源受限的无人机平台上高效部署。</a:t>
              </a:r>
              <a:endParaRPr lang="en-US">
                <a:solidFill>
                  <a:srgbClr val="1A2B4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endParaRPr>
            </a:p>
          </p:txBody>
        </p:sp>
        <p:sp>
          <p:nvSpPr>
            <p:cNvPr id="33" name="Text 15"/>
            <p:cNvSpPr/>
            <p:nvPr/>
          </p:nvSpPr>
          <p:spPr>
            <a:xfrm>
              <a:off x="10440" y="5820"/>
              <a:ext cx="6720" cy="4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algn="l">
                <a:lnSpc>
                  <a:spcPct val="150000"/>
                </a:lnSpc>
                <a:buSzTx/>
                <a:buNone/>
              </a:pPr>
              <a:r>
                <a:rPr lang="en-US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</a:rPr>
                <a:t>多模态信息融合</a:t>
              </a:r>
              <a:endParaRPr lang="en-US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endParaRPr>
            </a:p>
          </p:txBody>
        </p:sp>
        <p:sp>
          <p:nvSpPr>
            <p:cNvPr id="34" name="Text 16"/>
            <p:cNvSpPr/>
            <p:nvPr/>
          </p:nvSpPr>
          <p:spPr>
            <a:xfrm>
              <a:off x="10440" y="6432"/>
              <a:ext cx="8760" cy="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>
                  <a:solidFill>
                    <a:srgbClr val="1A2B44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</a:rPr>
                <a:t>探索与红外热成像等传感器数据的融合，提升极端条件下的检测鲁棒性。</a:t>
              </a:r>
              <a:endParaRPr lang="en-US">
                <a:solidFill>
                  <a:srgbClr val="1A2B4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endParaRPr>
            </a:p>
          </p:txBody>
        </p:sp>
        <p:sp>
          <p:nvSpPr>
            <p:cNvPr id="35" name="Text 17"/>
            <p:cNvSpPr/>
            <p:nvPr/>
          </p:nvSpPr>
          <p:spPr>
            <a:xfrm>
              <a:off x="10440" y="6960"/>
              <a:ext cx="6090" cy="4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algn="l">
                <a:lnSpc>
                  <a:spcPct val="150000"/>
                </a:lnSpc>
                <a:buSzTx/>
                <a:buNone/>
              </a:pPr>
              <a:r>
                <a:rPr lang="en-US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</a:rPr>
                <a:t>智能注意力机制</a:t>
              </a:r>
              <a:endParaRPr lang="en-US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endParaRPr>
            </a:p>
          </p:txBody>
        </p:sp>
        <p:sp>
          <p:nvSpPr>
            <p:cNvPr id="36" name="Text 18"/>
            <p:cNvSpPr/>
            <p:nvPr/>
          </p:nvSpPr>
          <p:spPr>
            <a:xfrm>
              <a:off x="10440" y="7440"/>
              <a:ext cx="8760" cy="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algn="l">
                <a:lnSpc>
                  <a:spcPct val="150000"/>
                </a:lnSpc>
                <a:buSzTx/>
                <a:buNone/>
              </a:pPr>
              <a:r>
                <a:rPr lang="en-US">
                  <a:solidFill>
                    <a:srgbClr val="1A2B44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</a:rPr>
                <a:t>引入空间注意力或可变形卷积，使模型更智能地聚焦高概率区域。</a:t>
              </a:r>
              <a:endParaRPr lang="en-US">
                <a:solidFill>
                  <a:srgbClr val="1A2B4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endParaRPr>
            </a:p>
          </p:txBody>
        </p:sp>
        <p:sp>
          <p:nvSpPr>
            <p:cNvPr id="37" name="Text 19"/>
            <p:cNvSpPr/>
            <p:nvPr/>
          </p:nvSpPr>
          <p:spPr>
            <a:xfrm>
              <a:off x="10440" y="8100"/>
              <a:ext cx="5670" cy="4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algn="l">
                <a:lnSpc>
                  <a:spcPct val="150000"/>
                </a:lnSpc>
                <a:buSzTx/>
                <a:buNone/>
              </a:pPr>
              <a:r>
                <a:rPr lang="en-US">
                  <a:solidFill>
                    <a:srgbClr val="4A5568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</a:rPr>
                <a:t>自动化参数优化</a:t>
              </a:r>
              <a:endParaRPr lang="en-US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endParaRPr>
            </a:p>
          </p:txBody>
        </p:sp>
        <p:sp>
          <p:nvSpPr>
            <p:cNvPr id="38" name="Text 20"/>
            <p:cNvSpPr/>
            <p:nvPr/>
          </p:nvSpPr>
          <p:spPr>
            <a:xfrm>
              <a:off x="10440" y="8580"/>
              <a:ext cx="8760" cy="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algn="l">
                <a:lnSpc>
                  <a:spcPct val="150000"/>
                </a:lnSpc>
                <a:buSzTx/>
                <a:buNone/>
              </a:pPr>
              <a:r>
                <a:rPr lang="en-US">
                  <a:solidFill>
                    <a:srgbClr val="1A2B44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</a:rPr>
                <a:t>引入自动化寻优方法优化参数空间，提升模型综合性能指标。</a:t>
              </a:r>
              <a:endParaRPr lang="en-US">
                <a:solidFill>
                  <a:srgbClr val="1A2B4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endParaRPr>
            </a:p>
          </p:txBody>
        </p:sp>
      </p:grpSp>
      <p:sp>
        <p:nvSpPr>
          <p:cNvPr id="259" name="Google Shape;259;p23"/>
          <p:cNvSpPr/>
          <p:nvPr/>
        </p:nvSpPr>
        <p:spPr>
          <a:xfrm>
            <a:off x="571500" y="615950"/>
            <a:ext cx="95250" cy="5810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7.8,&quot;left&quot;:486.65,&quot;top&quot;:102.5,&quot;width&quot;:450}"/>
</p:tagLst>
</file>

<file path=ppt/tags/tag2.xml><?xml version="1.0" encoding="utf-8"?>
<p:tagLst xmlns:p="http://schemas.openxmlformats.org/presentationml/2006/main">
  <p:tag name="KSO_WM_DIAGRAM_VIRTUALLY_FRAME" val="{&quot;height&quot;:377.8,&quot;left&quot;:486.65,&quot;top&quot;:102.5,&quot;width&quot;:450}"/>
</p:tagLst>
</file>

<file path=ppt/tags/tag3.xml><?xml version="1.0" encoding="utf-8"?>
<p:tagLst xmlns:p="http://schemas.openxmlformats.org/presentationml/2006/main">
  <p:tag name="KSO_WM_DIAGRAM_VIRTUALLY_FRAME" val="{&quot;height&quot;:377.8,&quot;left&quot;:486.65,&quot;top&quot;:102.5,&quot;width&quot;:450}"/>
</p:tagLst>
</file>

<file path=ppt/tags/tag4.xml><?xml version="1.0" encoding="utf-8"?>
<p:tagLst xmlns:p="http://schemas.openxmlformats.org/presentationml/2006/main">
  <p:tag name="KSO_WM_DIAGRAM_VIRTUALLY_FRAME" val="{&quot;height&quot;:377.8,&quot;left&quot;:486.65,&quot;top&quot;:102.5,&quot;width&quot;:450}"/>
</p:tagLst>
</file>

<file path=ppt/tags/tag5.xml><?xml version="1.0" encoding="utf-8"?>
<p:tagLst xmlns:p="http://schemas.openxmlformats.org/presentationml/2006/main">
  <p:tag name="KSO_WM_DIAGRAM_VIRTUALLY_FRAME" val="{&quot;height&quot;:377.8,&quot;left&quot;:486.65,&quot;top&quot;:102.5,&quot;width&quot;:450}"/>
</p:tagLst>
</file>

<file path=ppt/tags/tag6.xml><?xml version="1.0" encoding="utf-8"?>
<p:tagLst xmlns:p="http://schemas.openxmlformats.org/presentationml/2006/main">
  <p:tag name="KSO_WM_DIAGRAM_VIRTUALLY_FRAME" val="{&quot;height&quot;:377.8,&quot;left&quot;:486.65,&quot;top&quot;:102.5,&quot;width&quot;:450}"/>
</p:tagLst>
</file>

<file path=ppt/tags/tag7.xml><?xml version="1.0" encoding="utf-8"?>
<p:tagLst xmlns:p="http://schemas.openxmlformats.org/presentationml/2006/main">
  <p:tag name="KSO_WM_DIAGRAM_VIRTUALLY_FRAME" val="{&quot;height&quot;:377.8,&quot;left&quot;:486.65,&quot;top&quot;:102.5,&quot;width&quot;:450}"/>
</p:tagLst>
</file>

<file path=ppt/tags/tag8.xml><?xml version="1.0" encoding="utf-8"?>
<p:tagLst xmlns:p="http://schemas.openxmlformats.org/presentationml/2006/main">
  <p:tag name="KSO_WM_DIAGRAM_VIRTUALLY_FRAME" val="{&quot;height&quot;:377.8,&quot;left&quot;:486.65,&quot;top&quot;:102.5,&quot;width&quot;:450}"/>
</p:tagLst>
</file>

<file path=ppt/tags/tag9.xml><?xml version="1.0" encoding="utf-8"?>
<p:tagLst xmlns:p="http://schemas.openxmlformats.org/presentationml/2006/main">
  <p:tag name="KSO_WM_DIAGRAM_VIRTUALLY_FRAME" val="{&quot;height&quot;:110,&quot;left&quot;:75,&quot;top&quot;:370,&quot;width&quot;:390}"/>
</p:tagLst>
</file>

<file path=ppt/tags/tag10.xml><?xml version="1.0" encoding="utf-8"?>
<p:tagLst xmlns:p="http://schemas.openxmlformats.org/presentationml/2006/main">
  <p:tag name="KSO_WM_DIAGRAM_VIRTUALLY_FRAME" val="{&quot;height&quot;:110,&quot;left&quot;:75,&quot;top&quot;:370,&quot;width&quot;:390}"/>
</p:tagLst>
</file>

<file path=ppt/tags/tag11.xml><?xml version="1.0" encoding="utf-8"?>
<p:tagLst xmlns:p="http://schemas.openxmlformats.org/presentationml/2006/main">
  <p:tag name="KSO_WM_DIAGRAM_VIRTUALLY_FRAME" val="{&quot;height&quot;:110,&quot;left&quot;:75,&quot;top&quot;:370,&quot;width&quot;:390}"/>
</p:tagLst>
</file>

<file path=ppt/tags/tag12.xml><?xml version="1.0" encoding="utf-8"?>
<p:tagLst xmlns:p="http://schemas.openxmlformats.org/presentationml/2006/main">
  <p:tag name="KSO_WM_DIAGRAM_VIRTUALLY_FRAME" val="{&quot;height&quot;:181.05,&quot;left&quot;:45,&quot;top&quot;:243,&quot;width&quot;:420}"/>
</p:tagLst>
</file>

<file path=ppt/tags/tag13.xml><?xml version="1.0" encoding="utf-8"?>
<p:tagLst xmlns:p="http://schemas.openxmlformats.org/presentationml/2006/main">
  <p:tag name="KSO_WM_DIAGRAM_VIRTUALLY_FRAME" val="{&quot;height&quot;:181.05,&quot;left&quot;:45,&quot;top&quot;:243,&quot;width&quot;:420}"/>
</p:tagLst>
</file>

<file path=ppt/tags/tag14.xml><?xml version="1.0" encoding="utf-8"?>
<p:tagLst xmlns:p="http://schemas.openxmlformats.org/presentationml/2006/main">
  <p:tag name="KSO_WM_DIAGRAM_VIRTUALLY_FRAME" val="{&quot;height&quot;:181.05,&quot;left&quot;:45,&quot;top&quot;:243,&quot;width&quot;:420}"/>
</p:tagLst>
</file>

<file path=ppt/tags/tag15.xml><?xml version="1.0" encoding="utf-8"?>
<p:tagLst xmlns:p="http://schemas.openxmlformats.org/presentationml/2006/main">
  <p:tag name="KSO_WM_DIAGRAM_VIRTUALLY_FRAME" val="{&quot;height&quot;:181.05,&quot;left&quot;:45,&quot;top&quot;:243,&quot;width&quot;:420}"/>
</p:tagLst>
</file>

<file path=ppt/tags/tag16.xml><?xml version="1.0" encoding="utf-8"?>
<p:tagLst xmlns:p="http://schemas.openxmlformats.org/presentationml/2006/main">
  <p:tag name="KSO_WM_DIAGRAM_VIRTUALLY_FRAME" val="{&quot;height&quot;:181.05,&quot;left&quot;:45,&quot;top&quot;:243,&quot;width&quot;:420}"/>
</p:tagLst>
</file>

<file path=ppt/tags/tag17.xml><?xml version="1.0" encoding="utf-8"?>
<p:tagLst xmlns:p="http://schemas.openxmlformats.org/presentationml/2006/main">
  <p:tag name="KSO_WM_DIAGRAM_VIRTUALLY_FRAME" val="{&quot;height&quot;:181.05,&quot;left&quot;:45,&quot;top&quot;:243,&quot;width&quot;:420}"/>
</p:tagLst>
</file>

<file path=ppt/tags/tag18.xml><?xml version="1.0" encoding="utf-8"?>
<p:tagLst xmlns:p="http://schemas.openxmlformats.org/presentationml/2006/main">
  <p:tag name="KSO_WM_DIAGRAM_VIRTUALLY_FRAME" val="{&quot;height&quot;:181.05,&quot;left&quot;:45,&quot;top&quot;:243,&quot;width&quot;:420}"/>
</p:tagLst>
</file>

<file path=ppt/tags/tag19.xml><?xml version="1.0" encoding="utf-8"?>
<p:tagLst xmlns:p="http://schemas.openxmlformats.org/presentationml/2006/main">
  <p:tag name="KSO_WM_DIAGRAM_VIRTUALLY_FRAME" val="{&quot;height&quot;:181.05,&quot;left&quot;:45,&quot;top&quot;:243,&quot;width&quot;:420}"/>
</p:tagLst>
</file>

<file path=ppt/tags/tag20.xml><?xml version="1.0" encoding="utf-8"?>
<p:tagLst xmlns:p="http://schemas.openxmlformats.org/presentationml/2006/main">
  <p:tag name="KSO_WM_DIAGRAM_VIRTUALLY_FRAME" val="{&quot;height&quot;:177,&quot;left&quot;:45,&quot;top&quot;:350.85,&quot;width&quot;:870}"/>
</p:tagLst>
</file>

<file path=ppt/tags/tag21.xml><?xml version="1.0" encoding="utf-8"?>
<p:tagLst xmlns:p="http://schemas.openxmlformats.org/presentationml/2006/main">
  <p:tag name="KSO_WM_DIAGRAM_VIRTUALLY_FRAME" val="{&quot;height&quot;:177,&quot;left&quot;:45,&quot;top&quot;:350.85,&quot;width&quot;:870}"/>
</p:tagLst>
</file>

<file path=ppt/tags/tag22.xml><?xml version="1.0" encoding="utf-8"?>
<p:tagLst xmlns:p="http://schemas.openxmlformats.org/presentationml/2006/main">
  <p:tag name="KSO_WM_DIAGRAM_VIRTUALLY_FRAME" val="{&quot;height&quot;:177,&quot;left&quot;:45,&quot;top&quot;:350.85,&quot;width&quot;:870}"/>
</p:tagLst>
</file>

<file path=ppt/tags/tag23.xml><?xml version="1.0" encoding="utf-8"?>
<p:tagLst xmlns:p="http://schemas.openxmlformats.org/presentationml/2006/main">
  <p:tag name="KSO_WM_DIAGRAM_VIRTUALLY_FRAME" val="{&quot;height&quot;:177,&quot;left&quot;:45,&quot;top&quot;:350.85,&quot;width&quot;:870}"/>
</p:tagLst>
</file>

<file path=ppt/tags/tag24.xml><?xml version="1.0" encoding="utf-8"?>
<p:tagLst xmlns:p="http://schemas.openxmlformats.org/presentationml/2006/main">
  <p:tag name="KSO_WM_DIAGRAM_VIRTUALLY_FRAME" val="{&quot;height&quot;:177,&quot;left&quot;:45,&quot;top&quot;:350.85,&quot;width&quot;:870}"/>
</p:tagLst>
</file>

<file path=ppt/tags/tag25.xml><?xml version="1.0" encoding="utf-8"?>
<p:tagLst xmlns:p="http://schemas.openxmlformats.org/presentationml/2006/main">
  <p:tag name="KSO_WM_DIAGRAM_VIRTUALLY_FRAME" val="{&quot;height&quot;:177,&quot;left&quot;:45,&quot;top&quot;:350.85,&quot;width&quot;:870}"/>
</p:tagLst>
</file>

<file path=ppt/tags/tag26.xml><?xml version="1.0" encoding="utf-8"?>
<p:tagLst xmlns:p="http://schemas.openxmlformats.org/presentationml/2006/main">
  <p:tag name="KSO_WM_DIAGRAM_VIRTUALLY_FRAME" val="{&quot;height&quot;:177,&quot;left&quot;:45,&quot;top&quot;:350.85,&quot;width&quot;:870}"/>
</p:tagLst>
</file>

<file path=ppt/tags/tag27.xml><?xml version="1.0" encoding="utf-8"?>
<p:tagLst xmlns:p="http://schemas.openxmlformats.org/presentationml/2006/main">
  <p:tag name="KSO_WM_DIAGRAM_VIRTUALLY_FRAME" val="{&quot;height&quot;:177,&quot;left&quot;:45,&quot;top&quot;:350.85,&quot;width&quot;:870}"/>
</p:tagLst>
</file>

<file path=ppt/tags/tag28.xml><?xml version="1.0" encoding="utf-8"?>
<p:tagLst xmlns:p="http://schemas.openxmlformats.org/presentationml/2006/main">
  <p:tag name="KSO_WM_DIAGRAM_VIRTUALLY_FRAME" val="{&quot;height&quot;:177,&quot;left&quot;:45,&quot;top&quot;:350.85,&quot;width&quot;:870}"/>
</p:tagLst>
</file>

<file path=ppt/tags/tag29.xml><?xml version="1.0" encoding="utf-8"?>
<p:tagLst xmlns:p="http://schemas.openxmlformats.org/presentationml/2006/main">
  <p:tag name="KSO_WM_DIAGRAM_VIRTUALLY_FRAME" val="{&quot;height&quot;:177,&quot;left&quot;:45,&quot;top&quot;:350.85,&quot;width&quot;:870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2685</Words>
  <Application>WPS 演示</Application>
  <PresentationFormat>宽屏</PresentationFormat>
  <Paragraphs>252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Arial</vt:lpstr>
      <vt:lpstr>Calibri</vt:lpstr>
      <vt:lpstr>微软雅黑</vt:lpstr>
      <vt:lpstr>Noto Sans SC</vt:lpstr>
      <vt:lpstr>Noto Sans SC</vt:lpstr>
      <vt:lpstr>Wingdings</vt:lpstr>
      <vt:lpstr>Courier New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郭帅</cp:lastModifiedBy>
  <cp:revision>43</cp:revision>
  <dcterms:created xsi:type="dcterms:W3CDTF">2026-05-02T13:55:00Z</dcterms:created>
  <dcterms:modified xsi:type="dcterms:W3CDTF">2026-05-04T10:51:16Z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C9934C098B1F42698AA4D5719D77070A_13</vt:lpwstr>
  </property>
  <property fmtid="{D5CDD505-2E9C-101B-9397-08002B2CF9AE}" pid="3" name="KSOProductBuildVer">
    <vt:lpwstr>2052-12.1.0.25865</vt:lpwstr>
  </property>
</Properties>
</file>